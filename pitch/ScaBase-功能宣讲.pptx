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A33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9334500" y="-1714500"/>
            <a:ext cx="8572500" cy="8572500"/>
          </a:xfrm>
          <a:prstGeom prst="roundRect">
            <a:avLst>
              <a:gd name="adj" fmla="val 50000"/>
            </a:avLst>
          </a:prstGeom>
          <a:solidFill>
            <a:srgbClr val="1FE3A0">
              <a:alpha val="10000"/>
            </a:srgbClr>
          </a:solidFill>
          <a:ln>
            <a:noFill/>
          </a:ln>
          <a:effectLst>
            <a:blur rad="762000" grow="true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1430000" y="5905500"/>
            <a:ext cx="7239000" cy="7239000"/>
          </a:xfrm>
          <a:prstGeom prst="roundRect">
            <a:avLst>
              <a:gd name="adj" fmla="val 50000"/>
            </a:avLst>
          </a:prstGeom>
          <a:solidFill>
            <a:srgbClr val="5B93FF">
              <a:alpha val="10000"/>
            </a:srgbClr>
          </a:solidFill>
          <a:ln>
            <a:noFill/>
          </a:ln>
          <a:effectLst>
            <a:blur rad="762000" grow="true"/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Box"/>
          <p:cNvSpPr txBox="1"/>
          <p:nvPr/>
        </p:nvSpPr>
        <p:spPr>
          <a:xfrm>
            <a:off x="952500" y="962025"/>
            <a:ext cx="118683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 spc="150">
                <a:solidFill>
                  <a:srgbClr val="DCE9FB"/>
                </a:solidFill>
                <a:latin typeface="Inter Bold"/>
                <a:ea typeface="Inter Bold"/>
                <a:cs typeface="Inter Bold"/>
              </a:rPr>
              <a:t>ScaBase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3801725" y="952500"/>
            <a:ext cx="3531413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7C8DA8"/>
                </a:solidFill>
                <a:latin typeface="Source Han Sans CN"/>
                <a:ea typeface="Source Han Sans CN"/>
                <a:cs typeface="Source Han Sans CN"/>
              </a:rPr>
              <a:t> · 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952500" y="3038475"/>
            <a:ext cx="579035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OPEN SOURCE COMPOSITION GOVERNANCE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952500" y="3543300"/>
            <a:ext cx="6246428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0"/>
              </a:lnSpc>
            </a:pPr>
            <a:r>
              <a:rPr lang="en-US" sz="12600" spc="-30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ScaBase</a:t>
            </a:r>
          </a:p>
        </p:txBody>
      </p:sp>
      <p:sp>
        <p:nvSpPr>
          <p:cNvPr id="9" name="Rectangle"/>
          <p:cNvSpPr/>
          <p:nvPr/>
        </p:nvSpPr>
        <p:spPr>
          <a:xfrm>
            <a:off x="952500" y="546735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35E6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952500" y="5772150"/>
            <a:ext cx="43815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650"/>
              </a:lnSpc>
            </a:pPr>
            <a:r>
              <a:rPr lang="zh-CN" sz="3450">
                <a:solidFill>
                  <a:srgbClr val="DCE9FB"/>
                </a:solidFill>
                <a:latin typeface="Source Han Sans CN"/>
                <a:ea typeface="Source Han Sans CN"/>
                <a:cs typeface="Source Han Sans CN"/>
              </a:rPr>
              <a:t>开源软件成分治理平台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952500" y="6610350"/>
            <a:ext cx="457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250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从「查得到漏洞」到「管得住引入」</a:t>
            </a:r>
          </a:p>
        </p:txBody>
      </p:sp>
      <p:sp>
        <p:nvSpPr>
          <p:cNvPr id="12" name="Path"/>
          <p:cNvSpPr/>
          <p:nvPr/>
        </p:nvSpPr>
        <p:spPr>
          <a:xfrm>
            <a:off x="12093909" y="3209213"/>
            <a:ext cx="4482817" cy="782581"/>
          </a:xfrm>
          <a:custGeom>
            <a:avLst/>
            <a:gdLst/>
            <a:ahLst/>
            <a:cxnLst/>
            <a:rect l="0" t="0" r="r" b="b"/>
            <a:pathLst>
              <a:path w="4482817" h="782581">
                <a:moveTo>
                  <a:pt x="1524000" y="1146"/>
                </a:moveTo>
                <a:lnTo>
                  <a:pt x="0" y="477396"/>
                </a:lnTo>
                <a:lnTo>
                  <a:pt x="5682" y="495578"/>
                </a:lnTo>
                <a:lnTo>
                  <a:pt x="1526016" y="20474"/>
                </a:lnTo>
                <a:lnTo>
                  <a:pt x="3046581" y="780756"/>
                </a:lnTo>
                <a:lnTo>
                  <a:pt x="3050230" y="782581"/>
                </a:lnTo>
                <a:lnTo>
                  <a:pt x="4482817" y="266849"/>
                </a:lnTo>
                <a:lnTo>
                  <a:pt x="4476365" y="248925"/>
                </a:lnTo>
                <a:lnTo>
                  <a:pt x="3051452" y="761893"/>
                </a:lnTo>
                <a:lnTo>
                  <a:pt x="1527666" y="0"/>
                </a:lnTo>
                <a:lnTo>
                  <a:pt x="1524000" y="1146"/>
                </a:lnTo>
                <a:close/>
              </a:path>
            </a:pathLst>
          </a:custGeom>
          <a:solidFill>
            <a:srgbClr val="35E6A8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2088539" y="3690871"/>
            <a:ext cx="3061324" cy="1637411"/>
          </a:xfrm>
          <a:custGeom>
            <a:avLst/>
            <a:gdLst/>
            <a:ahLst/>
            <a:cxnLst/>
            <a:rect l="0" t="0" r="r" b="b"/>
            <a:pathLst>
              <a:path w="3061324" h="1637411">
                <a:moveTo>
                  <a:pt x="963918" y="1610748"/>
                </a:moveTo>
                <a:lnTo>
                  <a:pt x="16420" y="0"/>
                </a:lnTo>
                <a:lnTo>
                  <a:pt x="0" y="9659"/>
                </a:lnTo>
                <a:lnTo>
                  <a:pt x="952500" y="1628909"/>
                </a:lnTo>
                <a:lnTo>
                  <a:pt x="957501" y="1637411"/>
                </a:lnTo>
                <a:lnTo>
                  <a:pt x="3061324" y="298615"/>
                </a:lnTo>
                <a:lnTo>
                  <a:pt x="3051096" y="282543"/>
                </a:lnTo>
                <a:lnTo>
                  <a:pt x="963918" y="1610748"/>
                </a:lnTo>
                <a:close/>
              </a:path>
            </a:pathLst>
          </a:custGeom>
          <a:solidFill>
            <a:srgbClr val="35E6A8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13044283" y="5306823"/>
            <a:ext cx="3533653" cy="1066826"/>
          </a:xfrm>
          <a:custGeom>
            <a:avLst/>
            <a:gdLst/>
            <a:ahLst/>
            <a:cxnLst/>
            <a:rect l="0" t="0" r="r" b="b"/>
            <a:pathLst>
              <a:path w="3533653" h="1066826">
                <a:moveTo>
                  <a:pt x="1719818" y="1044929"/>
                </a:moveTo>
                <a:lnTo>
                  <a:pt x="9934" y="0"/>
                </a:lnTo>
                <a:lnTo>
                  <a:pt x="0" y="16255"/>
                </a:lnTo>
                <a:lnTo>
                  <a:pt x="1714500" y="1064005"/>
                </a:lnTo>
                <a:lnTo>
                  <a:pt x="1719116" y="1066826"/>
                </a:lnTo>
                <a:lnTo>
                  <a:pt x="3533653" y="111806"/>
                </a:lnTo>
                <a:lnTo>
                  <a:pt x="3524780" y="94949"/>
                </a:lnTo>
                <a:lnTo>
                  <a:pt x="1719818" y="1044929"/>
                </a:lnTo>
                <a:close/>
              </a:path>
            </a:pathLst>
          </a:custGeom>
          <a:solidFill>
            <a:srgbClr val="35E6A8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15138014" y="3974715"/>
            <a:ext cx="1442220" cy="1442220"/>
          </a:xfrm>
          <a:custGeom>
            <a:avLst/>
            <a:gdLst/>
            <a:ahLst/>
            <a:cxnLst/>
            <a:rect l="0" t="0" r="r" b="b"/>
            <a:pathLst>
              <a:path w="1442220" h="1442220">
                <a:moveTo>
                  <a:pt x="1442220" y="1428750"/>
                </a:moveTo>
                <a:lnTo>
                  <a:pt x="13470" y="0"/>
                </a:lnTo>
                <a:lnTo>
                  <a:pt x="0" y="13470"/>
                </a:lnTo>
                <a:lnTo>
                  <a:pt x="1428750" y="1442220"/>
                </a:lnTo>
                <a:lnTo>
                  <a:pt x="1442220" y="1428750"/>
                </a:lnTo>
                <a:close/>
              </a:path>
            </a:pathLst>
          </a:custGeom>
          <a:solidFill>
            <a:srgbClr val="35E6A8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13040061" y="3216944"/>
            <a:ext cx="589879" cy="2100512"/>
          </a:xfrm>
          <a:custGeom>
            <a:avLst/>
            <a:gdLst/>
            <a:ahLst/>
            <a:cxnLst/>
            <a:rect l="0" t="0" r="r" b="b"/>
            <a:pathLst>
              <a:path w="589879" h="2100512">
                <a:moveTo>
                  <a:pt x="574842" y="60149"/>
                </a:moveTo>
                <a:lnTo>
                  <a:pt x="589879" y="5012"/>
                </a:lnTo>
                <a:lnTo>
                  <a:pt x="571500" y="0"/>
                </a:lnTo>
                <a:lnTo>
                  <a:pt x="556463" y="55136"/>
                </a:lnTo>
                <a:lnTo>
                  <a:pt x="574842" y="60149"/>
                </a:lnTo>
                <a:close/>
                <a:moveTo>
                  <a:pt x="537249" y="197989"/>
                </a:moveTo>
                <a:lnTo>
                  <a:pt x="552286" y="142853"/>
                </a:lnTo>
                <a:lnTo>
                  <a:pt x="533907" y="137841"/>
                </a:lnTo>
                <a:lnTo>
                  <a:pt x="518870" y="192977"/>
                </a:lnTo>
                <a:lnTo>
                  <a:pt x="537249" y="197989"/>
                </a:lnTo>
                <a:close/>
                <a:moveTo>
                  <a:pt x="499656" y="335830"/>
                </a:moveTo>
                <a:lnTo>
                  <a:pt x="514693" y="280694"/>
                </a:lnTo>
                <a:lnTo>
                  <a:pt x="496314" y="275681"/>
                </a:lnTo>
                <a:lnTo>
                  <a:pt x="481277" y="330818"/>
                </a:lnTo>
                <a:lnTo>
                  <a:pt x="499656" y="335830"/>
                </a:lnTo>
                <a:close/>
                <a:moveTo>
                  <a:pt x="462063" y="473671"/>
                </a:moveTo>
                <a:lnTo>
                  <a:pt x="477100" y="418534"/>
                </a:lnTo>
                <a:lnTo>
                  <a:pt x="458721" y="413522"/>
                </a:lnTo>
                <a:lnTo>
                  <a:pt x="443684" y="468658"/>
                </a:lnTo>
                <a:lnTo>
                  <a:pt x="462063" y="473671"/>
                </a:lnTo>
                <a:close/>
                <a:moveTo>
                  <a:pt x="424470" y="611511"/>
                </a:moveTo>
                <a:lnTo>
                  <a:pt x="439507" y="556375"/>
                </a:lnTo>
                <a:lnTo>
                  <a:pt x="421128" y="551363"/>
                </a:lnTo>
                <a:lnTo>
                  <a:pt x="406091" y="606499"/>
                </a:lnTo>
                <a:lnTo>
                  <a:pt x="424470" y="611511"/>
                </a:lnTo>
                <a:close/>
                <a:moveTo>
                  <a:pt x="386877" y="749352"/>
                </a:moveTo>
                <a:lnTo>
                  <a:pt x="401914" y="694215"/>
                </a:lnTo>
                <a:lnTo>
                  <a:pt x="383535" y="689203"/>
                </a:lnTo>
                <a:lnTo>
                  <a:pt x="368498" y="744339"/>
                </a:lnTo>
                <a:lnTo>
                  <a:pt x="386877" y="749352"/>
                </a:lnTo>
                <a:close/>
                <a:moveTo>
                  <a:pt x="349284" y="887192"/>
                </a:moveTo>
                <a:lnTo>
                  <a:pt x="364321" y="832056"/>
                </a:lnTo>
                <a:lnTo>
                  <a:pt x="345943" y="827044"/>
                </a:lnTo>
                <a:lnTo>
                  <a:pt x="330905" y="882180"/>
                </a:lnTo>
                <a:lnTo>
                  <a:pt x="349284" y="887192"/>
                </a:lnTo>
                <a:close/>
                <a:moveTo>
                  <a:pt x="311691" y="1025033"/>
                </a:moveTo>
                <a:lnTo>
                  <a:pt x="326728" y="969897"/>
                </a:lnTo>
                <a:lnTo>
                  <a:pt x="308350" y="964884"/>
                </a:lnTo>
                <a:lnTo>
                  <a:pt x="293313" y="1020021"/>
                </a:lnTo>
                <a:lnTo>
                  <a:pt x="311691" y="1025033"/>
                </a:lnTo>
                <a:close/>
                <a:moveTo>
                  <a:pt x="274098" y="1162874"/>
                </a:moveTo>
                <a:lnTo>
                  <a:pt x="289136" y="1107737"/>
                </a:lnTo>
                <a:lnTo>
                  <a:pt x="270757" y="1102725"/>
                </a:lnTo>
                <a:lnTo>
                  <a:pt x="255720" y="1157861"/>
                </a:lnTo>
                <a:lnTo>
                  <a:pt x="274098" y="1162874"/>
                </a:lnTo>
                <a:close/>
                <a:moveTo>
                  <a:pt x="236506" y="1300714"/>
                </a:moveTo>
                <a:lnTo>
                  <a:pt x="251543" y="1245578"/>
                </a:lnTo>
                <a:lnTo>
                  <a:pt x="233164" y="1240566"/>
                </a:lnTo>
                <a:lnTo>
                  <a:pt x="218127" y="1295702"/>
                </a:lnTo>
                <a:lnTo>
                  <a:pt x="236506" y="1300714"/>
                </a:lnTo>
                <a:close/>
                <a:moveTo>
                  <a:pt x="198913" y="1438555"/>
                </a:moveTo>
                <a:lnTo>
                  <a:pt x="213950" y="1383419"/>
                </a:lnTo>
                <a:lnTo>
                  <a:pt x="195571" y="1378406"/>
                </a:lnTo>
                <a:lnTo>
                  <a:pt x="180534" y="1433543"/>
                </a:lnTo>
                <a:lnTo>
                  <a:pt x="198913" y="1438555"/>
                </a:lnTo>
                <a:close/>
                <a:moveTo>
                  <a:pt x="161320" y="1576396"/>
                </a:moveTo>
                <a:lnTo>
                  <a:pt x="176357" y="1521259"/>
                </a:lnTo>
                <a:lnTo>
                  <a:pt x="157978" y="1516247"/>
                </a:lnTo>
                <a:lnTo>
                  <a:pt x="142941" y="1571383"/>
                </a:lnTo>
                <a:lnTo>
                  <a:pt x="161320" y="1576396"/>
                </a:lnTo>
                <a:close/>
                <a:moveTo>
                  <a:pt x="123727" y="1714236"/>
                </a:moveTo>
                <a:lnTo>
                  <a:pt x="138764" y="1659100"/>
                </a:lnTo>
                <a:lnTo>
                  <a:pt x="120385" y="1654088"/>
                </a:lnTo>
                <a:lnTo>
                  <a:pt x="105348" y="1709224"/>
                </a:lnTo>
                <a:lnTo>
                  <a:pt x="123727" y="1714236"/>
                </a:lnTo>
                <a:close/>
                <a:moveTo>
                  <a:pt x="86134" y="1852077"/>
                </a:moveTo>
                <a:lnTo>
                  <a:pt x="101171" y="1796941"/>
                </a:lnTo>
                <a:lnTo>
                  <a:pt x="82792" y="1791928"/>
                </a:lnTo>
                <a:lnTo>
                  <a:pt x="67755" y="1847064"/>
                </a:lnTo>
                <a:lnTo>
                  <a:pt x="86134" y="1852077"/>
                </a:lnTo>
                <a:close/>
                <a:moveTo>
                  <a:pt x="48541" y="1989918"/>
                </a:moveTo>
                <a:lnTo>
                  <a:pt x="63578" y="1934781"/>
                </a:lnTo>
                <a:lnTo>
                  <a:pt x="45199" y="1929769"/>
                </a:lnTo>
                <a:lnTo>
                  <a:pt x="30162" y="1984905"/>
                </a:lnTo>
                <a:lnTo>
                  <a:pt x="48541" y="1989918"/>
                </a:lnTo>
                <a:close/>
                <a:moveTo>
                  <a:pt x="18379" y="2100512"/>
                </a:moveTo>
                <a:lnTo>
                  <a:pt x="25985" y="2072622"/>
                </a:lnTo>
                <a:lnTo>
                  <a:pt x="7607" y="2067610"/>
                </a:lnTo>
                <a:lnTo>
                  <a:pt x="0" y="2095500"/>
                </a:lnTo>
                <a:lnTo>
                  <a:pt x="18379" y="2100512"/>
                </a:lnTo>
                <a:close/>
              </a:path>
            </a:pathLst>
          </a:custGeom>
          <a:solidFill>
            <a:srgbClr val="35E6A8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16563975" y="3467100"/>
            <a:ext cx="19050" cy="1914525"/>
          </a:xfrm>
          <a:custGeom>
            <a:avLst/>
            <a:gdLst/>
            <a:ahLst/>
            <a:cxnLst/>
            <a:rect l="0" t="0" r="r" b="b"/>
            <a:pathLst>
              <a:path w="19050" h="1914525">
                <a:moveTo>
                  <a:pt x="19050" y="57150"/>
                </a:moveTo>
                <a:lnTo>
                  <a:pt x="19050" y="0"/>
                </a:lnTo>
                <a:lnTo>
                  <a:pt x="0" y="0"/>
                </a:lnTo>
                <a:lnTo>
                  <a:pt x="0" y="57150"/>
                </a:lnTo>
                <a:lnTo>
                  <a:pt x="19050" y="57150"/>
                </a:lnTo>
                <a:close/>
                <a:moveTo>
                  <a:pt x="19050" y="200025"/>
                </a:moveTo>
                <a:lnTo>
                  <a:pt x="19050" y="142875"/>
                </a:lnTo>
                <a:lnTo>
                  <a:pt x="0" y="142875"/>
                </a:lnTo>
                <a:lnTo>
                  <a:pt x="0" y="200025"/>
                </a:lnTo>
                <a:lnTo>
                  <a:pt x="19050" y="200025"/>
                </a:lnTo>
                <a:close/>
                <a:moveTo>
                  <a:pt x="19050" y="342900"/>
                </a:moveTo>
                <a:lnTo>
                  <a:pt x="19050" y="285750"/>
                </a:lnTo>
                <a:lnTo>
                  <a:pt x="0" y="285750"/>
                </a:lnTo>
                <a:lnTo>
                  <a:pt x="0" y="342900"/>
                </a:lnTo>
                <a:lnTo>
                  <a:pt x="19050" y="342900"/>
                </a:lnTo>
                <a:close/>
                <a:moveTo>
                  <a:pt x="19050" y="485775"/>
                </a:moveTo>
                <a:lnTo>
                  <a:pt x="19050" y="428625"/>
                </a:lnTo>
                <a:lnTo>
                  <a:pt x="0" y="428625"/>
                </a:lnTo>
                <a:lnTo>
                  <a:pt x="0" y="485775"/>
                </a:lnTo>
                <a:lnTo>
                  <a:pt x="19050" y="485775"/>
                </a:lnTo>
                <a:close/>
                <a:moveTo>
                  <a:pt x="19050" y="628650"/>
                </a:moveTo>
                <a:lnTo>
                  <a:pt x="19050" y="571500"/>
                </a:lnTo>
                <a:lnTo>
                  <a:pt x="0" y="571500"/>
                </a:lnTo>
                <a:lnTo>
                  <a:pt x="0" y="628650"/>
                </a:lnTo>
                <a:lnTo>
                  <a:pt x="19050" y="628650"/>
                </a:lnTo>
                <a:close/>
                <a:moveTo>
                  <a:pt x="19050" y="771525"/>
                </a:moveTo>
                <a:lnTo>
                  <a:pt x="19050" y="714375"/>
                </a:lnTo>
                <a:lnTo>
                  <a:pt x="0" y="714375"/>
                </a:lnTo>
                <a:lnTo>
                  <a:pt x="0" y="771525"/>
                </a:lnTo>
                <a:lnTo>
                  <a:pt x="19050" y="771525"/>
                </a:lnTo>
                <a:close/>
                <a:moveTo>
                  <a:pt x="19050" y="914400"/>
                </a:moveTo>
                <a:lnTo>
                  <a:pt x="19050" y="857250"/>
                </a:lnTo>
                <a:lnTo>
                  <a:pt x="0" y="857250"/>
                </a:lnTo>
                <a:lnTo>
                  <a:pt x="0" y="914400"/>
                </a:lnTo>
                <a:lnTo>
                  <a:pt x="19050" y="914400"/>
                </a:lnTo>
                <a:close/>
                <a:moveTo>
                  <a:pt x="19050" y="1057275"/>
                </a:moveTo>
                <a:lnTo>
                  <a:pt x="19050" y="1000125"/>
                </a:lnTo>
                <a:lnTo>
                  <a:pt x="0" y="1000125"/>
                </a:lnTo>
                <a:lnTo>
                  <a:pt x="0" y="1057275"/>
                </a:lnTo>
                <a:lnTo>
                  <a:pt x="19050" y="1057275"/>
                </a:lnTo>
                <a:close/>
                <a:moveTo>
                  <a:pt x="19050" y="1200150"/>
                </a:moveTo>
                <a:lnTo>
                  <a:pt x="19050" y="1143000"/>
                </a:lnTo>
                <a:lnTo>
                  <a:pt x="0" y="1143000"/>
                </a:lnTo>
                <a:lnTo>
                  <a:pt x="0" y="1200150"/>
                </a:lnTo>
                <a:lnTo>
                  <a:pt x="19050" y="1200150"/>
                </a:lnTo>
                <a:close/>
                <a:moveTo>
                  <a:pt x="19050" y="1343025"/>
                </a:moveTo>
                <a:lnTo>
                  <a:pt x="19050" y="1285875"/>
                </a:lnTo>
                <a:lnTo>
                  <a:pt x="0" y="1285875"/>
                </a:lnTo>
                <a:lnTo>
                  <a:pt x="0" y="1343025"/>
                </a:lnTo>
                <a:lnTo>
                  <a:pt x="19050" y="1343025"/>
                </a:lnTo>
                <a:close/>
                <a:moveTo>
                  <a:pt x="19050" y="1485900"/>
                </a:moveTo>
                <a:lnTo>
                  <a:pt x="19050" y="1428750"/>
                </a:lnTo>
                <a:lnTo>
                  <a:pt x="0" y="1428750"/>
                </a:lnTo>
                <a:lnTo>
                  <a:pt x="0" y="1485900"/>
                </a:lnTo>
                <a:lnTo>
                  <a:pt x="19050" y="1485900"/>
                </a:lnTo>
                <a:close/>
                <a:moveTo>
                  <a:pt x="19050" y="1628775"/>
                </a:moveTo>
                <a:lnTo>
                  <a:pt x="19050" y="1571625"/>
                </a:lnTo>
                <a:lnTo>
                  <a:pt x="0" y="1571625"/>
                </a:lnTo>
                <a:lnTo>
                  <a:pt x="0" y="1628775"/>
                </a:lnTo>
                <a:lnTo>
                  <a:pt x="19050" y="1628775"/>
                </a:lnTo>
                <a:close/>
                <a:moveTo>
                  <a:pt x="19050" y="1771650"/>
                </a:moveTo>
                <a:lnTo>
                  <a:pt x="19050" y="1714500"/>
                </a:lnTo>
                <a:lnTo>
                  <a:pt x="0" y="1714500"/>
                </a:lnTo>
                <a:lnTo>
                  <a:pt x="0" y="1771650"/>
                </a:lnTo>
                <a:lnTo>
                  <a:pt x="19050" y="1771650"/>
                </a:lnTo>
                <a:close/>
                <a:moveTo>
                  <a:pt x="19050" y="1914525"/>
                </a:moveTo>
                <a:lnTo>
                  <a:pt x="19050" y="1857375"/>
                </a:lnTo>
                <a:lnTo>
                  <a:pt x="0" y="1857375"/>
                </a:lnTo>
                <a:lnTo>
                  <a:pt x="0" y="1914525"/>
                </a:lnTo>
                <a:lnTo>
                  <a:pt x="19050" y="1914525"/>
                </a:lnTo>
                <a:close/>
              </a:path>
            </a:pathLst>
          </a:custGeom>
          <a:solidFill>
            <a:srgbClr val="35E6A8">
              <a:alpha val="3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15137631" y="3117872"/>
            <a:ext cx="776238" cy="869906"/>
          </a:xfrm>
          <a:custGeom>
            <a:avLst/>
            <a:gdLst/>
            <a:ahLst/>
            <a:cxnLst/>
            <a:rect l="0" t="0" r="r" b="b"/>
            <a:pathLst>
              <a:path w="776238" h="869906">
                <a:moveTo>
                  <a:pt x="762000" y="0"/>
                </a:moveTo>
                <a:lnTo>
                  <a:pt x="0" y="857250"/>
                </a:lnTo>
                <a:lnTo>
                  <a:pt x="14238" y="869906"/>
                </a:lnTo>
                <a:lnTo>
                  <a:pt x="776238" y="12656"/>
                </a:lnTo>
                <a:lnTo>
                  <a:pt x="762000" y="0"/>
                </a:lnTo>
                <a:close/>
              </a:path>
            </a:pathLst>
          </a:custGeom>
          <a:solidFill>
            <a:srgbClr val="5B93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11996386" y="5306914"/>
            <a:ext cx="1057977" cy="682822"/>
          </a:xfrm>
          <a:custGeom>
            <a:avLst/>
            <a:gdLst/>
            <a:ahLst/>
            <a:cxnLst/>
            <a:rect l="0" t="0" r="r" b="b"/>
            <a:pathLst>
              <a:path w="1057977" h="682822">
                <a:moveTo>
                  <a:pt x="10227" y="682822"/>
                </a:moveTo>
                <a:lnTo>
                  <a:pt x="1057977" y="16072"/>
                </a:lnTo>
                <a:lnTo>
                  <a:pt x="1047750" y="0"/>
                </a:lnTo>
                <a:lnTo>
                  <a:pt x="0" y="666750"/>
                </a:lnTo>
                <a:lnTo>
                  <a:pt x="10227" y="682822"/>
                </a:lnTo>
                <a:close/>
              </a:path>
            </a:pathLst>
          </a:custGeom>
          <a:solidFill>
            <a:srgbClr val="5B93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11963400" y="3562350"/>
            <a:ext cx="266700" cy="26670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11963400" y="3562350"/>
            <a:ext cx="266700" cy="266700"/>
          </a:xfrm>
          <a:prstGeom prst="ellipse">
            <a:avLst/>
          </a:prstGeom>
          <a:noFill/>
          <a:ln w="28575">
            <a:solidFill>
              <a:srgbClr val="35E6A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Ellipse"/>
          <p:cNvSpPr/>
          <p:nvPr/>
        </p:nvSpPr>
        <p:spPr>
          <a:xfrm>
            <a:off x="13515975" y="3114675"/>
            <a:ext cx="209550" cy="2095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Ellipse"/>
          <p:cNvSpPr/>
          <p:nvPr/>
        </p:nvSpPr>
        <p:spPr>
          <a:xfrm>
            <a:off x="13515975" y="3114675"/>
            <a:ext cx="209550" cy="209550"/>
          </a:xfrm>
          <a:prstGeom prst="ellipse">
            <a:avLst/>
          </a:prstGeom>
          <a:noFill/>
          <a:ln w="28575">
            <a:solidFill>
              <a:srgbClr val="35E6A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Ellipse"/>
          <p:cNvSpPr/>
          <p:nvPr/>
        </p:nvSpPr>
        <p:spPr>
          <a:xfrm>
            <a:off x="16468725" y="3362325"/>
            <a:ext cx="209550" cy="2095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Ellipse"/>
          <p:cNvSpPr/>
          <p:nvPr/>
        </p:nvSpPr>
        <p:spPr>
          <a:xfrm>
            <a:off x="16468725" y="3362325"/>
            <a:ext cx="209550" cy="209550"/>
          </a:xfrm>
          <a:prstGeom prst="ellipse">
            <a:avLst/>
          </a:prstGeom>
          <a:noFill/>
          <a:ln w="28575">
            <a:solidFill>
              <a:srgbClr val="35E6A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Ellipse"/>
          <p:cNvSpPr/>
          <p:nvPr/>
        </p:nvSpPr>
        <p:spPr>
          <a:xfrm>
            <a:off x="12925425" y="5191125"/>
            <a:ext cx="247650" cy="2476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Ellipse"/>
          <p:cNvSpPr/>
          <p:nvPr/>
        </p:nvSpPr>
        <p:spPr>
          <a:xfrm>
            <a:off x="12925425" y="5191125"/>
            <a:ext cx="247650" cy="247650"/>
          </a:xfrm>
          <a:prstGeom prst="ellipse">
            <a:avLst/>
          </a:prstGeom>
          <a:noFill/>
          <a:ln w="28575">
            <a:solidFill>
              <a:srgbClr val="35E6A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Ellipse"/>
          <p:cNvSpPr/>
          <p:nvPr/>
        </p:nvSpPr>
        <p:spPr>
          <a:xfrm>
            <a:off x="14658975" y="6257925"/>
            <a:ext cx="209550" cy="2095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Ellipse"/>
          <p:cNvSpPr/>
          <p:nvPr/>
        </p:nvSpPr>
        <p:spPr>
          <a:xfrm>
            <a:off x="14658975" y="6257925"/>
            <a:ext cx="209550" cy="209550"/>
          </a:xfrm>
          <a:prstGeom prst="ellipse">
            <a:avLst/>
          </a:prstGeom>
          <a:noFill/>
          <a:ln w="28575">
            <a:solidFill>
              <a:srgbClr val="35E6A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Ellipse"/>
          <p:cNvSpPr/>
          <p:nvPr/>
        </p:nvSpPr>
        <p:spPr>
          <a:xfrm>
            <a:off x="16449675" y="5286375"/>
            <a:ext cx="247650" cy="2476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Ellipse"/>
          <p:cNvSpPr/>
          <p:nvPr/>
        </p:nvSpPr>
        <p:spPr>
          <a:xfrm>
            <a:off x="16449675" y="5286375"/>
            <a:ext cx="247650" cy="247650"/>
          </a:xfrm>
          <a:prstGeom prst="ellipse">
            <a:avLst/>
          </a:prstGeom>
          <a:noFill/>
          <a:ln w="28575">
            <a:solidFill>
              <a:srgbClr val="35E6A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Ellipse"/>
          <p:cNvSpPr/>
          <p:nvPr/>
        </p:nvSpPr>
        <p:spPr>
          <a:xfrm>
            <a:off x="15821025" y="3038475"/>
            <a:ext cx="171450" cy="1714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Ellipse"/>
          <p:cNvSpPr/>
          <p:nvPr/>
        </p:nvSpPr>
        <p:spPr>
          <a:xfrm>
            <a:off x="15821025" y="3038475"/>
            <a:ext cx="171450" cy="171450"/>
          </a:xfrm>
          <a:prstGeom prst="ellipse">
            <a:avLst/>
          </a:prstGeom>
          <a:noFill/>
          <a:ln w="19050">
            <a:solidFill>
              <a:srgbClr val="5B93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Ellipse"/>
          <p:cNvSpPr/>
          <p:nvPr/>
        </p:nvSpPr>
        <p:spPr>
          <a:xfrm>
            <a:off x="11915775" y="5895975"/>
            <a:ext cx="171450" cy="171450"/>
          </a:xfrm>
          <a:prstGeom prst="ellipse">
            <a:avLst/>
          </a:prstGeom>
          <a:solidFill>
            <a:srgbClr val="0B12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Ellipse"/>
          <p:cNvSpPr/>
          <p:nvPr/>
        </p:nvSpPr>
        <p:spPr>
          <a:xfrm>
            <a:off x="11915775" y="5895975"/>
            <a:ext cx="171450" cy="171450"/>
          </a:xfrm>
          <a:prstGeom prst="ellipse">
            <a:avLst/>
          </a:prstGeom>
          <a:noFill/>
          <a:ln w="19050">
            <a:solidFill>
              <a:srgbClr val="5B93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6" name="Ellipse"/>
          <p:cNvSpPr/>
          <p:nvPr/>
        </p:nvSpPr>
        <p:spPr>
          <a:xfrm>
            <a:off x="14897100" y="3733800"/>
            <a:ext cx="495300" cy="495300"/>
          </a:xfrm>
          <a:prstGeom prst="ellipse">
            <a:avLst/>
          </a:prstGeom>
          <a:solidFill>
            <a:srgbClr val="1220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Ellipse"/>
          <p:cNvSpPr/>
          <p:nvPr/>
        </p:nvSpPr>
        <p:spPr>
          <a:xfrm>
            <a:off x="14897100" y="3733800"/>
            <a:ext cx="495300" cy="495300"/>
          </a:xfrm>
          <a:prstGeom prst="ellipse">
            <a:avLst/>
          </a:prstGeom>
          <a:noFill/>
          <a:ln w="28575">
            <a:solidFill>
              <a:srgbClr val="5B93F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14992350" y="38290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5E6A8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952500" y="8763000"/>
            <a:ext cx="2981325" cy="571500"/>
          </a:xfrm>
          <a:prstGeom prst="roundRect">
            <a:avLst>
              <a:gd name="adj" fmla="val 50000"/>
            </a:avLst>
          </a:prstGeom>
          <a:solidFill>
            <a:srgbClr val="122E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085850" y="8896350"/>
            <a:ext cx="27096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FF3E0"/>
                </a:solidFill>
                <a:latin typeface="Source Han Sans CN"/>
                <a:ea typeface="Source Han Sans CN"/>
                <a:cs typeface="Source Han Sans CN"/>
              </a:rPr>
              <a:t>Maven · npm · PyPI · Go</a:t>
            </a:r>
          </a:p>
        </p:txBody>
      </p:sp>
      <p:sp>
        <p:nvSpPr>
          <p:cNvPr id="41" name="Rectangle"/>
          <p:cNvSpPr/>
          <p:nvPr/>
        </p:nvSpPr>
        <p:spPr>
          <a:xfrm>
            <a:off x="4067175" y="8763000"/>
            <a:ext cx="2181225" cy="571500"/>
          </a:xfrm>
          <a:prstGeom prst="roundRect">
            <a:avLst>
              <a:gd name="adj" fmla="val 50000"/>
            </a:avLst>
          </a:prstGeom>
          <a:solidFill>
            <a:srgbClr val="1523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4200525" y="8896350"/>
            <a:ext cx="19123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CFE0FF"/>
                </a:solidFill>
                <a:latin typeface="Source Han Sans CN"/>
                <a:ea typeface="Source Han Sans CN"/>
                <a:cs typeface="Source Han Sans CN"/>
              </a:rPr>
              <a:t>OSV + NVD </a:t>
            </a:r>
          </a:p>
        </p:txBody>
      </p:sp>
      <p:sp>
        <p:nvSpPr>
          <p:cNvPr id="43" name="Rectangle"/>
          <p:cNvSpPr/>
          <p:nvPr/>
        </p:nvSpPr>
        <p:spPr>
          <a:xfrm>
            <a:off x="6381750" y="8763000"/>
            <a:ext cx="2847975" cy="57150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6515100" y="8896350"/>
            <a:ext cx="25789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Zone A 采集 → Zone B 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14268450" y="8924925"/>
            <a:ext cx="306436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Inter"/>
                <a:ea typeface="Inter"/>
                <a:cs typeface="Inter"/>
              </a:rPr>
              <a:t>scabase.roweb.cn ·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4297025" y="7248525"/>
            <a:ext cx="5886450" cy="58864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6E6A8">
                <a:alpha val="14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952500" y="952500"/>
            <a:ext cx="254380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BACKGROUND · 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52500" y="1419225"/>
            <a:ext cx="5486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zh-CN" sz="48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开源治理的三个断层</a:t>
            </a:r>
          </a:p>
        </p:txBody>
      </p:sp>
      <p:sp>
        <p:nvSpPr>
          <p:cNvPr id="6" name="Rectangle"/>
          <p:cNvSpPr/>
          <p:nvPr/>
        </p:nvSpPr>
        <p:spPr>
          <a:xfrm>
            <a:off x="952500" y="3000375"/>
            <a:ext cx="5257800" cy="3190875"/>
          </a:xfrm>
          <a:prstGeom prst="roundRect">
            <a:avLst>
              <a:gd name="adj" fmla="val 7164"/>
            </a:avLst>
          </a:prstGeom>
          <a:solidFill>
            <a:srgbClr val="101A2E"/>
          </a:solidFill>
          <a:ln>
            <a:noFill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71600" y="3419475"/>
            <a:ext cx="85297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35E6A8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Inter Bold"/>
                <a:ea typeface="Inter Bold"/>
                <a:cs typeface="Inter Bold"/>
              </a:rPr>
              <a:t>GAP 01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71600" y="38481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zh-CN" sz="30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查得到，管不住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371600" y="4514850"/>
            <a:ext cx="42672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CVE </a:t>
            </a:r>
          </a:p>
        </p:txBody>
      </p:sp>
      <p:sp>
        <p:nvSpPr>
          <p:cNvPr id="10" name="Rectangle"/>
          <p:cNvSpPr/>
          <p:nvPr/>
        </p:nvSpPr>
        <p:spPr>
          <a:xfrm>
            <a:off x="957263" y="3005138"/>
            <a:ext cx="5248275" cy="3181350"/>
          </a:xfrm>
          <a:prstGeom prst="roundRect">
            <a:avLst>
              <a:gd name="adj" fmla="val 7035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515100" y="3000375"/>
            <a:ext cx="5257800" cy="3190875"/>
          </a:xfrm>
          <a:prstGeom prst="roundRect">
            <a:avLst>
              <a:gd name="adj" fmla="val 7164"/>
            </a:avLst>
          </a:prstGeom>
          <a:solidFill>
            <a:srgbClr val="1A1B23"/>
          </a:solidFill>
          <a:ln>
            <a:noFill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934200" y="3419475"/>
            <a:ext cx="89553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FFB65C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Inter Bold"/>
                <a:ea typeface="Inter Bold"/>
                <a:cs typeface="Inter Bold"/>
              </a:rPr>
              <a:t>GAP 02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34200" y="38481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zh-CN" sz="30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看漏洞，不看活不活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934200" y="4514850"/>
            <a:ext cx="4332808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CVE </a:t>
            </a:r>
          </a:p>
        </p:txBody>
      </p:sp>
      <p:sp>
        <p:nvSpPr>
          <p:cNvPr id="15" name="Rectangle"/>
          <p:cNvSpPr/>
          <p:nvPr/>
        </p:nvSpPr>
        <p:spPr>
          <a:xfrm>
            <a:off x="6519863" y="3005138"/>
            <a:ext cx="5248275" cy="3181350"/>
          </a:xfrm>
          <a:prstGeom prst="roundRect">
            <a:avLst>
              <a:gd name="adj" fmla="val 7035"/>
            </a:avLst>
          </a:prstGeom>
          <a:noFill/>
          <a:ln w="9525">
            <a:solidFill>
              <a:srgbClr val="FFB55C">
                <a:alpha val="28000"/>
              </a:srgbClr>
            </a:solidFill>
            <a:miter lim="400000"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077700" y="3000375"/>
            <a:ext cx="5257800" cy="3190875"/>
          </a:xfrm>
          <a:prstGeom prst="roundRect">
            <a:avLst>
              <a:gd name="adj" fmla="val 7164"/>
            </a:avLst>
          </a:prstGeom>
          <a:solidFill>
            <a:srgbClr val="111C33"/>
          </a:solidFill>
          <a:ln>
            <a:noFill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496800" y="3419475"/>
            <a:ext cx="89932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5B93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Inter Bold"/>
                <a:ea typeface="Inter Bold"/>
                <a:cs typeface="Inter Bold"/>
              </a:rPr>
              <a:t>GAP 03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496800" y="3848100"/>
            <a:ext cx="4191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zh-CN" sz="30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外网有数据，内网不可用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496800" y="4514850"/>
            <a:ext cx="426720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情报工具假设能连公网；隔离网只能人工搬运，数据无法核验、无法保证新鲜。</a:t>
            </a:r>
          </a:p>
        </p:txBody>
      </p:sp>
      <p:sp>
        <p:nvSpPr>
          <p:cNvPr id="20" name="Rectangle"/>
          <p:cNvSpPr/>
          <p:nvPr/>
        </p:nvSpPr>
        <p:spPr>
          <a:xfrm>
            <a:off x="12082463" y="3005138"/>
            <a:ext cx="5248275" cy="3181350"/>
          </a:xfrm>
          <a:prstGeom prst="roundRect">
            <a:avLst>
              <a:gd name="adj" fmla="val 7035"/>
            </a:avLst>
          </a:prstGeom>
          <a:noFill/>
          <a:ln w="9525">
            <a:solidFill>
              <a:srgbClr val="5C94FF">
                <a:alpha val="28000"/>
              </a:srgbClr>
            </a:solidFill>
            <a:miter lim="400000"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952500" y="7058025"/>
            <a:ext cx="16383000" cy="1114425"/>
          </a:xfrm>
          <a:prstGeom prst="roundRect">
            <a:avLst>
              <a:gd name="adj" fmla="val 15384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276350" y="7410450"/>
            <a:ext cx="3143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9FB2CC"/>
                </a:solidFill>
                <a:latin typeface="Source Han Sans CN"/>
                <a:ea typeface="Source Han Sans CN"/>
                <a:cs typeface="Source Han Sans CN"/>
              </a:rPr>
              <a:t>漏洞只是风险的一个切面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4648200" y="7381875"/>
            <a:ext cx="71247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「这个组件三年后还有人维护吗」同样是安全问题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52500" y="9029700"/>
            <a:ext cx="19588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6554450" y="9058275"/>
            <a:ext cx="77732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2816907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ARCHITECTURE · 02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106299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zh-CN" sz="46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互联网采集，内网管控，中间只有数据包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676525"/>
            <a:ext cx="6819900" cy="3362325"/>
          </a:xfrm>
          <a:prstGeom prst="roundRect">
            <a:avLst>
              <a:gd name="adj" fmla="val 6798"/>
            </a:avLst>
          </a:prstGeom>
          <a:solidFill>
            <a:srgbClr val="101A2E"/>
          </a:solidFill>
          <a:ln>
            <a:noFill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71600" y="3095625"/>
            <a:ext cx="2514695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Zone A · 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048125" y="31813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35E6A8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允许出站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71600" y="3714750"/>
            <a:ext cx="59817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750"/>
              </a:lnSpc>
            </a:pP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1.  采集 OSV / NVD / KEV / EPSS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en-US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2.  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3.  归一化到 PURL 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4.  构建并签名 Bundle</a:t>
            </a:r>
          </a:p>
        </p:txBody>
      </p:sp>
      <p:sp>
        <p:nvSpPr>
          <p:cNvPr id="9" name="Rectangle"/>
          <p:cNvSpPr/>
          <p:nvPr/>
        </p:nvSpPr>
        <p:spPr>
          <a:xfrm>
            <a:off x="957263" y="2681288"/>
            <a:ext cx="6810375" cy="3352800"/>
          </a:xfrm>
          <a:prstGeom prst="roundRect">
            <a:avLst>
              <a:gd name="adj" fmla="val 6676"/>
            </a:avLst>
          </a:prstGeom>
          <a:noFill/>
          <a:ln w="9525">
            <a:solidFill>
              <a:srgbClr val="36E6A8">
                <a:alpha val="30000"/>
              </a:srgbClr>
            </a:solidFill>
            <a:miter lim="400000"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8401050" y="3505200"/>
            <a:ext cx="990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1950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单向摆渡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372475" y="4057650"/>
            <a:ext cx="1047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签名数据包</a:t>
            </a:r>
          </a:p>
        </p:txBody>
      </p:sp>
      <p:sp>
        <p:nvSpPr>
          <p:cNvPr id="12" name="Path"/>
          <p:cNvSpPr/>
          <p:nvPr/>
        </p:nvSpPr>
        <p:spPr>
          <a:xfrm>
            <a:off x="8100840" y="4862340"/>
            <a:ext cx="1362420" cy="28920"/>
          </a:xfrm>
          <a:custGeom>
            <a:avLst/>
            <a:gdLst/>
            <a:ahLst/>
            <a:cxnLst/>
            <a:rect l="0" t="0" r="r" b="b"/>
            <a:pathLst>
              <a:path w="1362420" h="28920">
                <a:moveTo>
                  <a:pt x="109710" y="172"/>
                </a:moveTo>
                <a:lnTo>
                  <a:pt x="14460" y="172"/>
                </a:lnTo>
                <a:quadBezTo>
                  <a:pt x="8470" y="0"/>
                  <a:pt x="4357" y="4357"/>
                </a:quadBezTo>
                <a:quadBezTo>
                  <a:pt x="0" y="8470"/>
                  <a:pt x="172" y="14460"/>
                </a:quadBezTo>
                <a:quadBezTo>
                  <a:pt x="0" y="20449"/>
                  <a:pt x="4357" y="24563"/>
                </a:quadBezTo>
                <a:quadBezTo>
                  <a:pt x="8470" y="28920"/>
                  <a:pt x="14460" y="28747"/>
                </a:quadBezTo>
                <a:lnTo>
                  <a:pt x="109710" y="28747"/>
                </a:lnTo>
                <a:quadBezTo>
                  <a:pt x="115699" y="28920"/>
                  <a:pt x="119813" y="24563"/>
                </a:quadBezTo>
                <a:quadBezTo>
                  <a:pt x="124170" y="20449"/>
                  <a:pt x="123997" y="14460"/>
                </a:quadBezTo>
                <a:quadBezTo>
                  <a:pt x="124170" y="8470"/>
                  <a:pt x="119813" y="4357"/>
                </a:quadBezTo>
                <a:quadBezTo>
                  <a:pt x="115699" y="0"/>
                  <a:pt x="109710" y="172"/>
                </a:quadBezTo>
                <a:close/>
                <a:moveTo>
                  <a:pt x="290685" y="172"/>
                </a:moveTo>
                <a:lnTo>
                  <a:pt x="195435" y="172"/>
                </a:lnTo>
                <a:quadBezTo>
                  <a:pt x="189445" y="0"/>
                  <a:pt x="185332" y="4357"/>
                </a:quadBezTo>
                <a:quadBezTo>
                  <a:pt x="180975" y="8470"/>
                  <a:pt x="181147" y="14460"/>
                </a:quadBezTo>
                <a:quadBezTo>
                  <a:pt x="180975" y="20449"/>
                  <a:pt x="185332" y="24563"/>
                </a:quadBezTo>
                <a:quadBezTo>
                  <a:pt x="189445" y="28920"/>
                  <a:pt x="195435" y="28747"/>
                </a:quadBezTo>
                <a:lnTo>
                  <a:pt x="290685" y="28747"/>
                </a:lnTo>
                <a:quadBezTo>
                  <a:pt x="296674" y="28920"/>
                  <a:pt x="300788" y="24563"/>
                </a:quadBezTo>
                <a:quadBezTo>
                  <a:pt x="305145" y="20449"/>
                  <a:pt x="304972" y="14460"/>
                </a:quadBezTo>
                <a:quadBezTo>
                  <a:pt x="305145" y="8470"/>
                  <a:pt x="300788" y="4357"/>
                </a:quadBezTo>
                <a:quadBezTo>
                  <a:pt x="296674" y="0"/>
                  <a:pt x="290685" y="172"/>
                </a:quadBezTo>
                <a:close/>
                <a:moveTo>
                  <a:pt x="471660" y="172"/>
                </a:moveTo>
                <a:lnTo>
                  <a:pt x="376410" y="172"/>
                </a:lnTo>
                <a:quadBezTo>
                  <a:pt x="370420" y="0"/>
                  <a:pt x="366307" y="4357"/>
                </a:quadBezTo>
                <a:quadBezTo>
                  <a:pt x="361950" y="8470"/>
                  <a:pt x="362122" y="14460"/>
                </a:quadBezTo>
                <a:quadBezTo>
                  <a:pt x="361950" y="20449"/>
                  <a:pt x="366307" y="24563"/>
                </a:quadBezTo>
                <a:quadBezTo>
                  <a:pt x="370420" y="28920"/>
                  <a:pt x="376410" y="28747"/>
                </a:quadBezTo>
                <a:lnTo>
                  <a:pt x="471660" y="28747"/>
                </a:lnTo>
                <a:quadBezTo>
                  <a:pt x="477649" y="28920"/>
                  <a:pt x="481763" y="24563"/>
                </a:quadBezTo>
                <a:quadBezTo>
                  <a:pt x="486120" y="20449"/>
                  <a:pt x="485947" y="14460"/>
                </a:quadBezTo>
                <a:quadBezTo>
                  <a:pt x="486120" y="8470"/>
                  <a:pt x="481763" y="4357"/>
                </a:quadBezTo>
                <a:quadBezTo>
                  <a:pt x="477649" y="0"/>
                  <a:pt x="471660" y="172"/>
                </a:quadBezTo>
                <a:close/>
                <a:moveTo>
                  <a:pt x="652635" y="172"/>
                </a:moveTo>
                <a:lnTo>
                  <a:pt x="557385" y="172"/>
                </a:lnTo>
                <a:quadBezTo>
                  <a:pt x="551395" y="0"/>
                  <a:pt x="547282" y="4357"/>
                </a:quadBezTo>
                <a:quadBezTo>
                  <a:pt x="542925" y="8470"/>
                  <a:pt x="543097" y="14460"/>
                </a:quadBezTo>
                <a:quadBezTo>
                  <a:pt x="542925" y="20449"/>
                  <a:pt x="547282" y="24563"/>
                </a:quadBezTo>
                <a:quadBezTo>
                  <a:pt x="551395" y="28920"/>
                  <a:pt x="557385" y="28747"/>
                </a:quadBezTo>
                <a:lnTo>
                  <a:pt x="652635" y="28747"/>
                </a:lnTo>
                <a:quadBezTo>
                  <a:pt x="658624" y="28920"/>
                  <a:pt x="662738" y="24563"/>
                </a:quadBezTo>
                <a:quadBezTo>
                  <a:pt x="667095" y="20449"/>
                  <a:pt x="666922" y="14460"/>
                </a:quadBezTo>
                <a:quadBezTo>
                  <a:pt x="667095" y="8470"/>
                  <a:pt x="662738" y="4357"/>
                </a:quadBezTo>
                <a:quadBezTo>
                  <a:pt x="658624" y="0"/>
                  <a:pt x="652635" y="172"/>
                </a:quadBezTo>
                <a:close/>
                <a:moveTo>
                  <a:pt x="833610" y="172"/>
                </a:moveTo>
                <a:lnTo>
                  <a:pt x="738360" y="172"/>
                </a:lnTo>
                <a:quadBezTo>
                  <a:pt x="732370" y="0"/>
                  <a:pt x="728257" y="4357"/>
                </a:quadBezTo>
                <a:quadBezTo>
                  <a:pt x="723900" y="8470"/>
                  <a:pt x="724072" y="14460"/>
                </a:quadBezTo>
                <a:quadBezTo>
                  <a:pt x="723900" y="20449"/>
                  <a:pt x="728257" y="24563"/>
                </a:quadBezTo>
                <a:quadBezTo>
                  <a:pt x="732370" y="28920"/>
                  <a:pt x="738360" y="28747"/>
                </a:quadBezTo>
                <a:lnTo>
                  <a:pt x="833610" y="28747"/>
                </a:lnTo>
                <a:quadBezTo>
                  <a:pt x="839599" y="28920"/>
                  <a:pt x="843713" y="24563"/>
                </a:quadBezTo>
                <a:quadBezTo>
                  <a:pt x="848070" y="20449"/>
                  <a:pt x="847897" y="14460"/>
                </a:quadBezTo>
                <a:quadBezTo>
                  <a:pt x="848070" y="8470"/>
                  <a:pt x="843713" y="4357"/>
                </a:quadBezTo>
                <a:quadBezTo>
                  <a:pt x="839599" y="0"/>
                  <a:pt x="833610" y="172"/>
                </a:quadBezTo>
                <a:close/>
                <a:moveTo>
                  <a:pt x="1014585" y="172"/>
                </a:moveTo>
                <a:lnTo>
                  <a:pt x="919335" y="172"/>
                </a:lnTo>
                <a:quadBezTo>
                  <a:pt x="913345" y="0"/>
                  <a:pt x="909232" y="4357"/>
                </a:quadBezTo>
                <a:quadBezTo>
                  <a:pt x="904875" y="8470"/>
                  <a:pt x="905047" y="14460"/>
                </a:quadBezTo>
                <a:quadBezTo>
                  <a:pt x="904875" y="20449"/>
                  <a:pt x="909232" y="24563"/>
                </a:quadBezTo>
                <a:quadBezTo>
                  <a:pt x="913345" y="28920"/>
                  <a:pt x="919335" y="28747"/>
                </a:quadBezTo>
                <a:lnTo>
                  <a:pt x="1014585" y="28747"/>
                </a:lnTo>
                <a:quadBezTo>
                  <a:pt x="1020574" y="28920"/>
                  <a:pt x="1024688" y="24563"/>
                </a:quadBezTo>
                <a:quadBezTo>
                  <a:pt x="1029045" y="20449"/>
                  <a:pt x="1028872" y="14460"/>
                </a:quadBezTo>
                <a:quadBezTo>
                  <a:pt x="1029045" y="8470"/>
                  <a:pt x="1024688" y="4357"/>
                </a:quadBezTo>
                <a:quadBezTo>
                  <a:pt x="1020574" y="0"/>
                  <a:pt x="1014585" y="172"/>
                </a:quadBezTo>
                <a:close/>
                <a:moveTo>
                  <a:pt x="1195560" y="172"/>
                </a:moveTo>
                <a:lnTo>
                  <a:pt x="1100310" y="172"/>
                </a:lnTo>
                <a:quadBezTo>
                  <a:pt x="1094320" y="0"/>
                  <a:pt x="1090207" y="4357"/>
                </a:quadBezTo>
                <a:quadBezTo>
                  <a:pt x="1085850" y="8470"/>
                  <a:pt x="1086022" y="14460"/>
                </a:quadBezTo>
                <a:quadBezTo>
                  <a:pt x="1085850" y="20449"/>
                  <a:pt x="1090207" y="24563"/>
                </a:quadBezTo>
                <a:quadBezTo>
                  <a:pt x="1094320" y="28920"/>
                  <a:pt x="1100310" y="28747"/>
                </a:quadBezTo>
                <a:lnTo>
                  <a:pt x="1195560" y="28747"/>
                </a:lnTo>
                <a:quadBezTo>
                  <a:pt x="1201549" y="28920"/>
                  <a:pt x="1205663" y="24563"/>
                </a:quadBezTo>
                <a:quadBezTo>
                  <a:pt x="1210020" y="20449"/>
                  <a:pt x="1209847" y="14460"/>
                </a:quadBezTo>
                <a:quadBezTo>
                  <a:pt x="1210020" y="8470"/>
                  <a:pt x="1205663" y="4357"/>
                </a:quadBezTo>
                <a:quadBezTo>
                  <a:pt x="1201549" y="0"/>
                  <a:pt x="1195560" y="172"/>
                </a:quadBezTo>
                <a:close/>
                <a:moveTo>
                  <a:pt x="1347960" y="172"/>
                </a:moveTo>
                <a:lnTo>
                  <a:pt x="1281285" y="172"/>
                </a:lnTo>
                <a:quadBezTo>
                  <a:pt x="1275295" y="0"/>
                  <a:pt x="1271182" y="4357"/>
                </a:quadBezTo>
                <a:quadBezTo>
                  <a:pt x="1266825" y="8470"/>
                  <a:pt x="1266997" y="14460"/>
                </a:quadBezTo>
                <a:quadBezTo>
                  <a:pt x="1266825" y="20449"/>
                  <a:pt x="1271182" y="24563"/>
                </a:quadBezTo>
                <a:quadBezTo>
                  <a:pt x="1275295" y="28920"/>
                  <a:pt x="1281285" y="28747"/>
                </a:quadBezTo>
                <a:lnTo>
                  <a:pt x="1347960" y="28747"/>
                </a:lnTo>
                <a:quadBezTo>
                  <a:pt x="1353949" y="28920"/>
                  <a:pt x="1358063" y="24563"/>
                </a:quadBezTo>
                <a:quadBezTo>
                  <a:pt x="1362420" y="20449"/>
                  <a:pt x="1362247" y="14460"/>
                </a:quadBezTo>
                <a:quadBezTo>
                  <a:pt x="1362420" y="8470"/>
                  <a:pt x="1358063" y="4357"/>
                </a:quadBezTo>
                <a:quadBezTo>
                  <a:pt x="1353949" y="0"/>
                  <a:pt x="1347960" y="172"/>
                </a:quadBezTo>
                <a:close/>
              </a:path>
            </a:pathLst>
          </a:custGeom>
          <a:solidFill>
            <a:srgbClr val="35E6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9299924" y="4708874"/>
            <a:ext cx="297753" cy="335853"/>
          </a:xfrm>
          <a:custGeom>
            <a:avLst/>
            <a:gdLst/>
            <a:ahLst/>
            <a:cxnLst/>
            <a:rect l="0" t="0" r="r" b="b"/>
            <a:pathLst>
              <a:path w="297753" h="335853">
                <a:moveTo>
                  <a:pt x="289315" y="155521"/>
                </a:moveTo>
                <a:lnTo>
                  <a:pt x="22615" y="3121"/>
                </a:lnTo>
                <a:quadBezTo>
                  <a:pt x="17500" y="0"/>
                  <a:pt x="11767" y="1742"/>
                </a:quadBezTo>
                <a:quadBezTo>
                  <a:pt x="5943" y="3152"/>
                  <a:pt x="3121" y="8438"/>
                </a:quadBezTo>
                <a:quadBezTo>
                  <a:pt x="0" y="13553"/>
                  <a:pt x="1742" y="19286"/>
                </a:quadBezTo>
                <a:quadBezTo>
                  <a:pt x="3152" y="25109"/>
                  <a:pt x="8438" y="27931"/>
                </a:quadBezTo>
                <a:lnTo>
                  <a:pt x="253429" y="167926"/>
                </a:lnTo>
                <a:lnTo>
                  <a:pt x="8438" y="307921"/>
                </a:lnTo>
                <a:quadBezTo>
                  <a:pt x="3152" y="310743"/>
                  <a:pt x="1742" y="316567"/>
                </a:quadBezTo>
                <a:quadBezTo>
                  <a:pt x="0" y="322300"/>
                  <a:pt x="3121" y="327415"/>
                </a:quadBezTo>
                <a:quadBezTo>
                  <a:pt x="5943" y="332701"/>
                  <a:pt x="11767" y="334110"/>
                </a:quadBezTo>
                <a:quadBezTo>
                  <a:pt x="17500" y="335853"/>
                  <a:pt x="22615" y="332731"/>
                </a:quadBezTo>
                <a:lnTo>
                  <a:pt x="289315" y="180331"/>
                </a:lnTo>
                <a:quadBezTo>
                  <a:pt x="290978" y="179384"/>
                  <a:pt x="292329" y="178029"/>
                </a:quadBezTo>
                <a:quadBezTo>
                  <a:pt x="293684" y="176678"/>
                  <a:pt x="294631" y="175015"/>
                </a:quadBezTo>
                <a:quadBezTo>
                  <a:pt x="297753" y="169900"/>
                  <a:pt x="296010" y="164167"/>
                </a:quadBezTo>
                <a:quadBezTo>
                  <a:pt x="294601" y="158343"/>
                  <a:pt x="289315" y="155521"/>
                </a:quadBezTo>
                <a:close/>
              </a:path>
            </a:pathLst>
          </a:custGeom>
          <a:solidFill>
            <a:srgbClr val="35E6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0020300" y="2676525"/>
            <a:ext cx="6819900" cy="3362325"/>
          </a:xfrm>
          <a:prstGeom prst="roundRect">
            <a:avLst>
              <a:gd name="adj" fmla="val 6798"/>
            </a:avLst>
          </a:prstGeom>
          <a:solidFill>
            <a:srgbClr val="111C33"/>
          </a:solidFill>
          <a:ln>
            <a:noFill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0439400" y="3095625"/>
            <a:ext cx="2203799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Zone B ·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2801600" y="31813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5B93FF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禁止出站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0439400" y="3714750"/>
            <a:ext cx="59817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750"/>
              </a:lnSpc>
            </a:pP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1.  验签 + 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2.  摄入应用 SBOM / 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3.  引入前门禁 / 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en-US" sz="2100">
                <a:solidFill>
                  <a:srgbClr val="A9B8D0"/>
                </a:solidFill>
                <a:effectLst>
                  <a:outerShdw blurRad="228600" dist="228600" dir="5400000" algn="ctr" rotWithShape="0">
                    <a:srgbClr val="000000">
                      <a:alpha val="3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4.  </a:t>
            </a:r>
          </a:p>
        </p:txBody>
      </p:sp>
      <p:sp>
        <p:nvSpPr>
          <p:cNvPr id="18" name="Rectangle"/>
          <p:cNvSpPr/>
          <p:nvPr/>
        </p:nvSpPr>
        <p:spPr>
          <a:xfrm>
            <a:off x="10025063" y="2681288"/>
            <a:ext cx="6810375" cy="3352800"/>
          </a:xfrm>
          <a:prstGeom prst="roundRect">
            <a:avLst>
              <a:gd name="adj" fmla="val 6676"/>
            </a:avLst>
          </a:prstGeom>
          <a:noFill/>
          <a:ln w="9525">
            <a:solidFill>
              <a:srgbClr val="5C94FF">
                <a:alpha val="32000"/>
              </a:srgbClr>
            </a:solidFill>
            <a:miter lim="400000"/>
          </a:ln>
          <a:effectLst>
            <a:outerShdw blurRad="228600" dist="228600" dir="5400000" algn="ctr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11249025" y="6677025"/>
            <a:ext cx="6838950" cy="6838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94FF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952500" y="6562725"/>
            <a:ext cx="5276850" cy="1933575"/>
          </a:xfrm>
          <a:prstGeom prst="roundRect">
            <a:avLst>
              <a:gd name="adj" fmla="val 9852"/>
            </a:avLst>
          </a:prstGeom>
          <a:solidFill>
            <a:srgbClr val="0E1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276350" y="6886575"/>
            <a:ext cx="1686496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PURL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276350" y="7410450"/>
            <a:ext cx="44100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00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/ 活跃度 / 许可证 / </a:t>
            </a:r>
          </a:p>
        </p:txBody>
      </p:sp>
      <p:sp>
        <p:nvSpPr>
          <p:cNvPr id="23" name="Rectangle"/>
          <p:cNvSpPr/>
          <p:nvPr/>
        </p:nvSpPr>
        <p:spPr>
          <a:xfrm>
            <a:off x="957263" y="6567488"/>
            <a:ext cx="5267325" cy="1924050"/>
          </a:xfrm>
          <a:prstGeom prst="roundRect">
            <a:avLst>
              <a:gd name="adj" fmla="val 9653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6505575" y="6562725"/>
            <a:ext cx="5276850" cy="1933575"/>
          </a:xfrm>
          <a:prstGeom prst="roundRect">
            <a:avLst>
              <a:gd name="adj" fmla="val 9852"/>
            </a:avLst>
          </a:prstGeom>
          <a:solidFill>
            <a:srgbClr val="0E1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6829425" y="6886575"/>
            <a:ext cx="2000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5B93FF"/>
                </a:solidFill>
                <a:latin typeface="Source Han Sans CN Bold"/>
                <a:ea typeface="Source Han Sans CN Bold"/>
                <a:cs typeface="Source Han Sans CN Bold"/>
              </a:rPr>
              <a:t>内网零公网请求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829425" y="7410450"/>
            <a:ext cx="45243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00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未知组件显式给出「数据缺失」，而不是静默补全</a:t>
            </a:r>
          </a:p>
        </p:txBody>
      </p:sp>
      <p:sp>
        <p:nvSpPr>
          <p:cNvPr id="27" name="Rectangle"/>
          <p:cNvSpPr/>
          <p:nvPr/>
        </p:nvSpPr>
        <p:spPr>
          <a:xfrm>
            <a:off x="6510338" y="6567488"/>
            <a:ext cx="5267325" cy="1924050"/>
          </a:xfrm>
          <a:prstGeom prst="roundRect">
            <a:avLst>
              <a:gd name="adj" fmla="val 9653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12058650" y="6562725"/>
            <a:ext cx="5276850" cy="1552575"/>
          </a:xfrm>
          <a:prstGeom prst="roundRect">
            <a:avLst>
              <a:gd name="adj" fmla="val 12269"/>
            </a:avLst>
          </a:prstGeom>
          <a:solidFill>
            <a:srgbClr val="0E1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2382500" y="6886575"/>
            <a:ext cx="1428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B65C"/>
                </a:solidFill>
                <a:latin typeface="Source Han Sans CN Bold"/>
                <a:ea typeface="Source Han Sans CN Bold"/>
                <a:cs typeface="Source Han Sans CN Bold"/>
              </a:rPr>
              <a:t>信任工程化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2382500" y="7410450"/>
            <a:ext cx="449389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+ seq 链 + </a:t>
            </a:r>
          </a:p>
        </p:txBody>
      </p:sp>
      <p:sp>
        <p:nvSpPr>
          <p:cNvPr id="31" name="Rectangle"/>
          <p:cNvSpPr/>
          <p:nvPr/>
        </p:nvSpPr>
        <p:spPr>
          <a:xfrm>
            <a:off x="12063413" y="6567488"/>
            <a:ext cx="5267325" cy="1543050"/>
          </a:xfrm>
          <a:prstGeom prst="roundRect">
            <a:avLst>
              <a:gd name="adj" fmla="val 12037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952500" y="9029700"/>
            <a:ext cx="19588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6544925" y="9058275"/>
            <a:ext cx="78132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302761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MAP · 03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5486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zh-CN" sz="48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八项能力，一条主链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49555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276350" y="2819400"/>
            <a:ext cx="25929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C1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276350" y="3190875"/>
            <a:ext cx="2096262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CVE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276350" y="3714750"/>
            <a:ext cx="3056839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OSV + NVD 双源富化，以 CVE </a:t>
            </a:r>
          </a:p>
        </p:txBody>
      </p:sp>
      <p:sp>
        <p:nvSpPr>
          <p:cNvPr id="9" name="Rectangle"/>
          <p:cNvSpPr/>
          <p:nvPr/>
        </p:nvSpPr>
        <p:spPr>
          <a:xfrm>
            <a:off x="957263" y="250031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36E6A8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5105400" y="249555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5429250" y="2819400"/>
            <a:ext cx="30186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C2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429250" y="319087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数据资产公开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5429250" y="3714750"/>
            <a:ext cx="315148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JSON 全公开，llms.txt 供 LLM </a:t>
            </a:r>
          </a:p>
        </p:txBody>
      </p:sp>
      <p:sp>
        <p:nvSpPr>
          <p:cNvPr id="14" name="Rectangle"/>
          <p:cNvSpPr/>
          <p:nvPr/>
        </p:nvSpPr>
        <p:spPr>
          <a:xfrm>
            <a:off x="5110163" y="250031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9258300" y="249555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9582150" y="2819400"/>
            <a:ext cx="30564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C3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582150" y="319087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社区支持力度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582149" y="3714750"/>
            <a:ext cx="319925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0-100 分与 A/B/C/D </a:t>
            </a:r>
          </a:p>
        </p:txBody>
      </p:sp>
      <p:sp>
        <p:nvSpPr>
          <p:cNvPr id="19" name="Rectangle"/>
          <p:cNvSpPr/>
          <p:nvPr/>
        </p:nvSpPr>
        <p:spPr>
          <a:xfrm>
            <a:off x="9263063" y="250031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36E6A8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3411200" y="249555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3735050" y="2819400"/>
            <a:ext cx="31270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C4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3735050" y="3190875"/>
            <a:ext cx="1428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引入前门禁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3735050" y="3714750"/>
            <a:ext cx="320108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en-US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+ </a:t>
            </a:r>
          </a:p>
        </p:txBody>
      </p:sp>
      <p:sp>
        <p:nvSpPr>
          <p:cNvPr id="24" name="Rectangle"/>
          <p:cNvSpPr/>
          <p:nvPr/>
        </p:nvSpPr>
        <p:spPr>
          <a:xfrm>
            <a:off x="13415963" y="250031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36E6A8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952500" y="499110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276350" y="5314950"/>
            <a:ext cx="30114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C5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276350" y="568642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原生依赖解析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276350" y="6210300"/>
            <a:ext cx="3081299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SBOM 也能扫，自动归一 PURL</a:t>
            </a:r>
          </a:p>
        </p:txBody>
      </p:sp>
      <p:sp>
        <p:nvSpPr>
          <p:cNvPr id="29" name="Rectangle"/>
          <p:cNvSpPr/>
          <p:nvPr/>
        </p:nvSpPr>
        <p:spPr>
          <a:xfrm>
            <a:off x="957263" y="499586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5105400" y="499110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11C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5429250" y="5314950"/>
            <a:ext cx="30595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5B93FF"/>
                </a:solidFill>
                <a:latin typeface="Inter Bold"/>
                <a:ea typeface="Inter Bold"/>
                <a:cs typeface="Inter Bold"/>
              </a:rPr>
              <a:t>C6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5429250" y="5686425"/>
            <a:ext cx="1835944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AI 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5429250" y="6210300"/>
            <a:ext cx="3157652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32 条基线，生成脚本过 90% </a:t>
            </a:r>
          </a:p>
        </p:txBody>
      </p:sp>
      <p:sp>
        <p:nvSpPr>
          <p:cNvPr id="34" name="Rectangle"/>
          <p:cNvSpPr/>
          <p:nvPr/>
        </p:nvSpPr>
        <p:spPr>
          <a:xfrm>
            <a:off x="5110163" y="499586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5C94FF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9258300" y="499110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11C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9582150" y="5314950"/>
            <a:ext cx="29173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5B93FF"/>
                </a:solidFill>
                <a:latin typeface="Inter Bold"/>
                <a:ea typeface="Inter Bold"/>
                <a:cs typeface="Inter Bold"/>
              </a:rPr>
              <a:t>C7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9582150" y="5686425"/>
            <a:ext cx="1428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影响面巡检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9582150" y="6210300"/>
            <a:ext cx="32004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按应用聚合，工单定级，增量证明收敛</a:t>
            </a:r>
          </a:p>
        </p:txBody>
      </p:sp>
      <p:sp>
        <p:nvSpPr>
          <p:cNvPr id="39" name="Rectangle"/>
          <p:cNvSpPr/>
          <p:nvPr/>
        </p:nvSpPr>
        <p:spPr>
          <a:xfrm>
            <a:off x="9263063" y="499586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5C94FF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3411200" y="4991100"/>
            <a:ext cx="3924300" cy="2266950"/>
          </a:xfrm>
          <a:prstGeom prst="roundRect">
            <a:avLst>
              <a:gd name="adj" fmla="val 840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3735050" y="5314950"/>
            <a:ext cx="30585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C8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13735050" y="568642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摆渡与工具链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3735050" y="6210300"/>
            <a:ext cx="306164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0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SARIF / JUnit / MR 评论 / </a:t>
            </a:r>
          </a:p>
        </p:txBody>
      </p:sp>
      <p:sp>
        <p:nvSpPr>
          <p:cNvPr id="44" name="Rectangle"/>
          <p:cNvSpPr/>
          <p:nvPr/>
        </p:nvSpPr>
        <p:spPr>
          <a:xfrm>
            <a:off x="13415963" y="4995863"/>
            <a:ext cx="3914775" cy="2257425"/>
          </a:xfrm>
          <a:prstGeom prst="roundRect">
            <a:avLst>
              <a:gd name="adj" fmla="val 8227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952500" y="7600950"/>
            <a:ext cx="16383000" cy="1076325"/>
          </a:xfrm>
          <a:prstGeom prst="roundRect">
            <a:avLst>
              <a:gd name="adj" fmla="val 15929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1257300" y="7934325"/>
            <a:ext cx="34290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9FB2CC"/>
                </a:solidFill>
                <a:latin typeface="Source Han Sans CN"/>
                <a:ea typeface="Source Han Sans CN"/>
                <a:cs typeface="Source Han Sans CN"/>
              </a:rPr>
              <a:t>主线不是「又一个扫描器」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4914900" y="7905750"/>
            <a:ext cx="6123355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 → 存量 → 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952500" y="9029700"/>
            <a:ext cx="19588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16544925" y="9058275"/>
            <a:ext cx="78776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4358432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01 · VULN LOOKUP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8466125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en-US" sz="46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CVE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52500" y="2409825"/>
            <a:ext cx="8191500" cy="257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生态覆盖：Maven（groupId:artifactId）、npm、PyPI、Go Module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OSV 主源：无需 API Key，含尚无 CVE 编号的 GHSA 漏洞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NVD 富化：补齐标准 CVSS 评分与 CWE 分类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CVE 视图：按 CVE 过滤、双视图切换、一键复制清单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纯静态前端：同一套代码，公网与内网两种部署</a:t>
            </a:r>
          </a:p>
        </p:txBody>
      </p:sp>
      <p:sp>
        <p:nvSpPr>
          <p:cNvPr id="6" name="Rectangle"/>
          <p:cNvSpPr/>
          <p:nvPr/>
        </p:nvSpPr>
        <p:spPr>
          <a:xfrm>
            <a:off x="952500" y="5248275"/>
            <a:ext cx="8191500" cy="1409700"/>
          </a:xfrm>
          <a:prstGeom prst="roundRect">
            <a:avLst>
              <a:gd name="adj" fmla="val 12162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238250" y="5534025"/>
            <a:ext cx="7469391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2025">
                <a:solidFill>
                  <a:srgbClr val="BFF3E0"/>
                </a:solidFill>
                <a:latin typeface="Source Han Sans CN"/>
                <a:ea typeface="Source Han Sans CN"/>
                <a:cs typeface="Source Han Sans CN"/>
              </a:rPr>
              <a:t>CVE」：同一 CVE </a:t>
            </a:r>
          </a:p>
        </p:txBody>
      </p:sp>
      <p:sp>
        <p:nvSpPr>
          <p:cNvPr id="8" name="Rectangle"/>
          <p:cNvSpPr/>
          <p:nvPr/>
        </p:nvSpPr>
        <p:spPr>
          <a:xfrm>
            <a:off x="9525000" y="2409825"/>
            <a:ext cx="7810500" cy="3667125"/>
          </a:xfrm>
          <a:prstGeom prst="roundRect">
            <a:avLst>
              <a:gd name="adj" fmla="val 5714"/>
            </a:avLst>
          </a:prstGeom>
          <a:solidFill>
            <a:srgbClr val="0A10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9906000" y="2790825"/>
            <a:ext cx="47394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 key = ecosystem|package|version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9906000" y="3257550"/>
            <a:ext cx="70485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900"/>
              </a:lnSpc>
            </a:pPr>
            <a:r>
              <a:rPr lang="en-US" sz="2025">
                <a:solidFill>
                  <a:srgbClr val="35E6A8"/>
                </a:solidFill>
                <a:latin typeface="Inter"/>
                <a:ea typeface="Inter"/>
                <a:cs typeface="Inter"/>
              </a:rPr>
              <a:t>npm|lodash|4.17.20</a:t>
            </a:r>
            <a:br>
              <a:rPr lang="en-US" sz="2025">
                <a:latin typeface="Inter"/>
                <a:ea typeface="Inter"/>
                <a:cs typeface="Inter"/>
              </a:rPr>
            </a:br>
            <a:r>
              <a:rPr lang="en-US" sz="2025">
                <a:solidFill>
                  <a:srgbClr val="35E6A8"/>
                </a:solidFill>
                <a:latin typeface="Inter"/>
                <a:ea typeface="Inter"/>
                <a:cs typeface="Inter"/>
              </a:rPr>
              <a:t>maven|com.alibaba:fastjson|1.2.24</a:t>
            </a:r>
            <a:br>
              <a:rPr lang="en-US" sz="2025">
                <a:latin typeface="Inter"/>
                <a:ea typeface="Inter"/>
                <a:cs typeface="Inter"/>
              </a:rPr>
            </a:br>
            <a:r>
              <a:rPr lang="en-US" sz="2025">
                <a:solidFill>
                  <a:srgbClr val="35E6A8"/>
                </a:solidFill>
                <a:latin typeface="Inter"/>
                <a:ea typeface="Inter"/>
                <a:cs typeface="Inter"/>
              </a:rPr>
              <a:t>pypi|requests|2.20.0</a:t>
            </a:r>
            <a:br>
              <a:rPr lang="en-US" sz="2025">
                <a:latin typeface="Inter"/>
                <a:ea typeface="Inter"/>
                <a:cs typeface="Inter"/>
              </a:rPr>
            </a:br>
            <a:r>
              <a:rPr lang="en-US" sz="2025">
                <a:solidFill>
                  <a:srgbClr val="35E6A8"/>
                </a:solidFill>
                <a:latin typeface="Inter"/>
                <a:ea typeface="Inter"/>
                <a:cs typeface="Inter"/>
              </a:rPr>
              <a:t>go|github.com/gin-gonic/gin|1.6.0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9906000" y="5410200"/>
            <a:ext cx="453181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75">
                <a:solidFill>
                  <a:srgbClr val="8FA1BD"/>
                </a:solidFill>
                <a:latin typeface="Inter"/>
                <a:ea typeface="Inter"/>
                <a:cs typeface="Inter"/>
              </a:rPr>
              <a:t>value = { osv_raw, enriched: [{ osv, nvd }] }</a:t>
            </a:r>
          </a:p>
        </p:txBody>
      </p:sp>
      <p:sp>
        <p:nvSpPr>
          <p:cNvPr id="12" name="Rectangle"/>
          <p:cNvSpPr/>
          <p:nvPr/>
        </p:nvSpPr>
        <p:spPr>
          <a:xfrm>
            <a:off x="9529763" y="2414588"/>
            <a:ext cx="7800975" cy="3657600"/>
          </a:xfrm>
          <a:prstGeom prst="roundRect">
            <a:avLst>
              <a:gd name="adj" fmla="val 5598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9525000" y="6305550"/>
            <a:ext cx="7810500" cy="2457450"/>
          </a:xfrm>
          <a:prstGeom prst="roundRect">
            <a:avLst>
              <a:gd name="adj" fmla="val 8527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9829800" y="6610350"/>
            <a:ext cx="14859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三种部署形态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9829800" y="7086600"/>
            <a:ext cx="72009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600"/>
              </a:lnSpc>
            </a:pP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GitHub Pages · push 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Docker（8080）· SCABASE_OFFLINE 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image tar · docker load </a:t>
            </a:r>
          </a:p>
        </p:txBody>
      </p:sp>
      <p:sp>
        <p:nvSpPr>
          <p:cNvPr id="16" name="Rectangle"/>
          <p:cNvSpPr/>
          <p:nvPr/>
        </p:nvSpPr>
        <p:spPr>
          <a:xfrm>
            <a:off x="9529763" y="6310313"/>
            <a:ext cx="7800975" cy="2447925"/>
          </a:xfrm>
          <a:prstGeom prst="roundRect">
            <a:avLst>
              <a:gd name="adj" fmla="val 8365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6554450" y="9058275"/>
            <a:ext cx="77671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05 / 14</a:t>
            </a:r>
          </a:p>
        </p:txBody>
      </p:sp>
      <p:sp>
        <p:nvSpPr>
          <p:cNvPr id="19" name="Rectangle"/>
          <p:cNvSpPr/>
          <p:nvPr/>
        </p:nvSpPr>
        <p:spPr>
          <a:xfrm>
            <a:off x="14868525" y="-561975"/>
            <a:ext cx="3981450" cy="39814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6E6A8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433543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02 · DATA ASSETS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91440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zh-CN" sz="45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数据是一等公民：人可读，机器可取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714625"/>
            <a:ext cx="8572500" cy="4086225"/>
          </a:xfrm>
          <a:prstGeom prst="roundRect">
            <a:avLst>
              <a:gd name="adj" fmla="val 5128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33500" y="3095625"/>
            <a:ext cx="20574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公开发布的数据集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333500" y="3657600"/>
            <a:ext cx="2847975" cy="2762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350"/>
              </a:lnSpc>
            </a:pPr>
            <a:r>
              <a:rPr lang="en-US" sz="19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vulns.json</a:t>
            </a:r>
            <a:br>
              <a:rPr lang="en-US" sz="1950">
                <a:latin typeface="Inter Bold"/>
                <a:ea typeface="Inter Bold"/>
                <a:cs typeface="Inter Bold"/>
              </a:rPr>
            </a:br>
            <a:r>
              <a:rPr lang="en-US" sz="19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popular-packages.json</a:t>
            </a:r>
            <a:br>
              <a:rPr lang="en-US" sz="1950">
                <a:latin typeface="Inter Bold"/>
                <a:ea typeface="Inter Bold"/>
                <a:cs typeface="Inter Bold"/>
              </a:rPr>
            </a:br>
            <a:r>
              <a:rPr lang="en-US" sz="19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community-support.json</a:t>
            </a:r>
            <a:br>
              <a:rPr lang="en-US" sz="1950">
                <a:latin typeface="Inter Bold"/>
                <a:ea typeface="Inter Bold"/>
                <a:cs typeface="Inter Bold"/>
              </a:rPr>
            </a:br>
            <a:r>
              <a:rPr lang="en-US" sz="19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pkg_list_popular.txt</a:t>
            </a:r>
            <a:br>
              <a:rPr lang="en-US" sz="1950">
                <a:latin typeface="Inter Bold"/>
                <a:ea typeface="Inter Bold"/>
                <a:cs typeface="Inter Bold"/>
              </a:rPr>
            </a:br>
            <a:r>
              <a:rPr lang="en-US" sz="195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repo-map.json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4410075" y="3657600"/>
            <a:ext cx="4733925" cy="276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435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· 每日自动更新 · MB 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Top 1000 及排序依据 · 0.7 MB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A/B/C/D · 0.3 MB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100，共 400 行 · 13 KB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purl → GitHub owner/repo · 1 KB</a:t>
            </a:r>
          </a:p>
        </p:txBody>
      </p:sp>
      <p:sp>
        <p:nvSpPr>
          <p:cNvPr id="9" name="Rectangle"/>
          <p:cNvSpPr/>
          <p:nvPr/>
        </p:nvSpPr>
        <p:spPr>
          <a:xfrm>
            <a:off x="957263" y="2719388"/>
            <a:ext cx="8562975" cy="4076700"/>
          </a:xfrm>
          <a:prstGeom prst="roundRect">
            <a:avLst>
              <a:gd name="adj" fmla="val 5023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952500" y="7029450"/>
            <a:ext cx="8572500" cy="1409700"/>
          </a:xfrm>
          <a:prstGeom prst="roundRect">
            <a:avLst>
              <a:gd name="adj" fmla="val 12162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238250" y="7315200"/>
            <a:ext cx="7651213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025">
                <a:solidFill>
                  <a:srgbClr val="BFF3E0"/>
                </a:solidFill>
                <a:latin typeface="Source Han Sans CN"/>
                <a:ea typeface="Source Han Sans CN"/>
                <a:cs typeface="Source Han Sans CN"/>
              </a:rPr>
              <a:t> sha256 </a:t>
            </a:r>
          </a:p>
        </p:txBody>
      </p:sp>
      <p:sp>
        <p:nvSpPr>
          <p:cNvPr id="12" name="Rectangle"/>
          <p:cNvSpPr/>
          <p:nvPr/>
        </p:nvSpPr>
        <p:spPr>
          <a:xfrm>
            <a:off x="9906000" y="2714625"/>
            <a:ext cx="7429500" cy="4905375"/>
          </a:xfrm>
          <a:prstGeom prst="roundRect">
            <a:avLst>
              <a:gd name="adj" fmla="val 4271"/>
            </a:avLst>
          </a:prstGeom>
          <a:solidFill>
            <a:srgbClr val="0A10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0287000" y="3095625"/>
            <a:ext cx="1781937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LLM 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87000" y="3657600"/>
            <a:ext cx="5733345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15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llmstxt.org 规范；index.json 提供 URL / bytes / sha256 /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schema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0287000" y="4610100"/>
            <a:ext cx="6667500" cy="2628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450"/>
              </a:lnSpc>
            </a:pPr>
            <a:r>
              <a:rPr lang="en-US" sz="1800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1. GET  data/index.json</a:t>
            </a:r>
          </a:p>
          <a:p>
            <a:pPr>
              <a:lnSpc>
                <a:spcPts val="3450"/>
              </a:lnSpc>
            </a:pPr>
            <a:r>
              <a:rPr lang="zh-CN" sz="1800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2. 按体积选数据集（小文件优先）</a:t>
            </a:r>
          </a:p>
          <a:p>
            <a:pPr>
              <a:lnSpc>
                <a:spcPts val="3450"/>
              </a:lnSpc>
            </a:pPr>
            <a:r>
              <a:rPr lang="zh-CN" sz="1800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3. 查漏洞 vulns.json["npm|lodash|4.17.20"]</a:t>
            </a:r>
          </a:p>
          <a:p>
            <a:pPr>
              <a:lnSpc>
                <a:spcPts val="3450"/>
              </a:lnSpc>
            </a:pPr>
            <a:r>
              <a:rPr lang="zh-CN" sz="1800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4. 反查 CVE 遍历 enriched[].osv.aliases</a:t>
            </a:r>
          </a:p>
          <a:p>
            <a:pPr>
              <a:lnSpc>
                <a:spcPts val="3450"/>
              </a:lnSpc>
            </a:pPr>
          </a:p>
          <a:p>
            <a:pPr>
              <a:lnSpc>
                <a:spcPts val="3450"/>
              </a:lnSpc>
            </a:pPr>
            <a:r>
              <a:rPr lang="zh-CN" sz="1800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无 API Key · 无跨域限制 · WebFetch 直取</a:t>
            </a:r>
          </a:p>
        </p:txBody>
      </p:sp>
      <p:sp>
        <p:nvSpPr>
          <p:cNvPr id="16" name="Rectangle"/>
          <p:cNvSpPr/>
          <p:nvPr/>
        </p:nvSpPr>
        <p:spPr>
          <a:xfrm>
            <a:off x="9910763" y="2719388"/>
            <a:ext cx="7419975" cy="4895850"/>
          </a:xfrm>
          <a:prstGeom prst="roundRect">
            <a:avLst>
              <a:gd name="adj" fmla="val 4182"/>
            </a:avLst>
          </a:prstGeom>
          <a:noFill/>
          <a:ln w="9525">
            <a:solidFill>
              <a:srgbClr val="5C94FF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6544925" y="9058275"/>
            <a:ext cx="78121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06 / 14</a:t>
            </a:r>
          </a:p>
        </p:txBody>
      </p:sp>
      <p:sp>
        <p:nvSpPr>
          <p:cNvPr id="19" name="Rectangle"/>
          <p:cNvSpPr/>
          <p:nvPr/>
        </p:nvSpPr>
        <p:spPr>
          <a:xfrm>
            <a:off x="14297025" y="6867525"/>
            <a:ext cx="5314950" cy="5314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94FF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562053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03 · COMMUNITY SUPPORT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91440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zh-CN" sz="45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「三年后还有人维护吗」需要被打分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52500" y="2752725"/>
            <a:ext cx="8001000" cy="257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超越活跃度：bus factor、贡献者、issue 响应、PR 周期、SECURITY.md、CI、基金会背书、下游依赖数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未知即风险：信号缺失按扣分处理，不按「还好」处理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一票否决：仓库 archived 直接判 D 级</a:t>
            </a:r>
          </a:p>
          <a:p>
            <a:pPr>
              <a:lnSpc>
                <a:spcPts val="4050"/>
              </a:lnSpc>
            </a:pP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白盒可核验：每组分记录 sources，页面徽章可点开原始出处</a:t>
            </a:r>
          </a:p>
        </p:txBody>
      </p:sp>
      <p:sp>
        <p:nvSpPr>
          <p:cNvPr id="6" name="Rectangle"/>
          <p:cNvSpPr/>
          <p:nvPr/>
        </p:nvSpPr>
        <p:spPr>
          <a:xfrm>
            <a:off x="952500" y="5572125"/>
            <a:ext cx="8001000" cy="2457450"/>
          </a:xfrm>
          <a:prstGeom prst="roundRect">
            <a:avLst>
              <a:gd name="adj" fmla="val 7751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257300" y="5876925"/>
            <a:ext cx="506469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· 408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257300" y="6353175"/>
            <a:ext cx="7391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600"/>
              </a:lnSpc>
            </a:pP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deps.dev 396 · GitHub 247 · PyPI 98 · npm registry 90 · repo-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map 8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A 174 · B 121 · C 29 · D 84</a:t>
            </a:r>
          </a:p>
        </p:txBody>
      </p:sp>
      <p:sp>
        <p:nvSpPr>
          <p:cNvPr id="9" name="Rectangle"/>
          <p:cNvSpPr/>
          <p:nvPr/>
        </p:nvSpPr>
        <p:spPr>
          <a:xfrm>
            <a:off x="957263" y="5576888"/>
            <a:ext cx="7991475" cy="2447925"/>
          </a:xfrm>
          <a:prstGeom prst="roundRect">
            <a:avLst>
              <a:gd name="adj" fmla="val 7587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9334500" y="2752725"/>
            <a:ext cx="8001000" cy="5657850"/>
          </a:xfrm>
          <a:prstGeom prst="roundRect">
            <a:avLst>
              <a:gd name="adj" fmla="val 3703"/>
            </a:avLst>
          </a:prstGeom>
          <a:solidFill>
            <a:srgbClr val="0A10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9715500" y="3133725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8FA1BD"/>
                </a:solidFill>
                <a:latin typeface="Source Han Sans CN Bold"/>
                <a:ea typeface="Source Han Sans CN Bold"/>
                <a:cs typeface="Source Han Sans CN Bold"/>
              </a:rPr>
              <a:t>社区支持力度等级分布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9715500" y="3714750"/>
            <a:ext cx="109350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025">
                <a:solidFill>
                  <a:srgbClr val="C3D1E6"/>
                </a:solidFill>
                <a:latin typeface="Sarasa Gothic SC"/>
                <a:ea typeface="Sarasa Gothic SC"/>
                <a:cs typeface="Sarasa Gothic SC"/>
              </a:rPr>
              <a:t>A · </a:t>
            </a:r>
          </a:p>
        </p:txBody>
      </p:sp>
      <p:sp>
        <p:nvSpPr>
          <p:cNvPr id="13" name="Rectangle"/>
          <p:cNvSpPr/>
          <p:nvPr/>
        </p:nvSpPr>
        <p:spPr>
          <a:xfrm>
            <a:off x="11525250" y="3743325"/>
            <a:ext cx="4191000" cy="381000"/>
          </a:xfrm>
          <a:prstGeom prst="roundRect">
            <a:avLst>
              <a:gd name="adj" fmla="val 25000"/>
            </a:avLst>
          </a:prstGeom>
          <a:solidFill>
            <a:srgbClr val="35E6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5887700" y="3743325"/>
            <a:ext cx="43498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174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9715500" y="4762500"/>
            <a:ext cx="10842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025">
                <a:solidFill>
                  <a:srgbClr val="C3D1E6"/>
                </a:solidFill>
                <a:latin typeface="Sarasa Gothic SC"/>
                <a:ea typeface="Sarasa Gothic SC"/>
                <a:cs typeface="Sarasa Gothic SC"/>
              </a:rPr>
              <a:t>B · </a:t>
            </a:r>
          </a:p>
        </p:txBody>
      </p:sp>
      <p:sp>
        <p:nvSpPr>
          <p:cNvPr id="16" name="Rectangle"/>
          <p:cNvSpPr/>
          <p:nvPr/>
        </p:nvSpPr>
        <p:spPr>
          <a:xfrm>
            <a:off x="11525250" y="4791075"/>
            <a:ext cx="2914650" cy="381000"/>
          </a:xfrm>
          <a:prstGeom prst="roundRect">
            <a:avLst>
              <a:gd name="adj" fmla="val 25000"/>
            </a:avLst>
          </a:prstGeom>
          <a:solidFill>
            <a:srgbClr val="2BB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4611350" y="4791075"/>
            <a:ext cx="39791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121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715500" y="5810250"/>
            <a:ext cx="136097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025">
                <a:solidFill>
                  <a:srgbClr val="C3D1E6"/>
                </a:solidFill>
                <a:latin typeface="Sarasa Gothic SC"/>
                <a:ea typeface="Sarasa Gothic SC"/>
                <a:cs typeface="Sarasa Gothic SC"/>
              </a:rPr>
              <a:t>C · </a:t>
            </a:r>
          </a:p>
        </p:txBody>
      </p:sp>
      <p:sp>
        <p:nvSpPr>
          <p:cNvPr id="19" name="Rectangle"/>
          <p:cNvSpPr/>
          <p:nvPr/>
        </p:nvSpPr>
        <p:spPr>
          <a:xfrm>
            <a:off x="11525250" y="5838825"/>
            <a:ext cx="695325" cy="381000"/>
          </a:xfrm>
          <a:prstGeom prst="roundRect">
            <a:avLst>
              <a:gd name="adj" fmla="val 25000"/>
            </a:avLst>
          </a:prstGeom>
          <a:solidFill>
            <a:srgbClr val="FFB6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2392025" y="5838825"/>
            <a:ext cx="34110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29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715500" y="6858000"/>
            <a:ext cx="135891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025">
                <a:solidFill>
                  <a:srgbClr val="C3D1E6"/>
                </a:solidFill>
                <a:latin typeface="Sarasa Gothic SC"/>
                <a:ea typeface="Sarasa Gothic SC"/>
                <a:cs typeface="Sarasa Gothic SC"/>
              </a:rPr>
              <a:t>D · </a:t>
            </a:r>
          </a:p>
        </p:txBody>
      </p:sp>
      <p:sp>
        <p:nvSpPr>
          <p:cNvPr id="22" name="Rectangle"/>
          <p:cNvSpPr/>
          <p:nvPr/>
        </p:nvSpPr>
        <p:spPr>
          <a:xfrm>
            <a:off x="11525250" y="6886575"/>
            <a:ext cx="2009775" cy="381000"/>
          </a:xfrm>
          <a:prstGeom prst="roundRect">
            <a:avLst>
              <a:gd name="adj" fmla="val 25000"/>
            </a:avLst>
          </a:prstGeom>
          <a:solidFill>
            <a:srgbClr val="FF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3706475" y="6886575"/>
            <a:ext cx="35391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84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715500" y="7629525"/>
            <a:ext cx="438127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E7F9A"/>
                </a:solidFill>
                <a:latin typeface="Sarasa Gothic SC"/>
                <a:ea typeface="Sarasa Gothic SC"/>
                <a:cs typeface="Sarasa Gothic SC"/>
              </a:rPr>
              <a:t>archived 仓库直接判 D · </a:t>
            </a:r>
          </a:p>
        </p:txBody>
      </p:sp>
      <p:sp>
        <p:nvSpPr>
          <p:cNvPr id="25" name="Rectangle"/>
          <p:cNvSpPr/>
          <p:nvPr/>
        </p:nvSpPr>
        <p:spPr>
          <a:xfrm>
            <a:off x="9339263" y="2757488"/>
            <a:ext cx="7991475" cy="5648325"/>
          </a:xfrm>
          <a:prstGeom prst="roundRect">
            <a:avLst>
              <a:gd name="adj" fmla="val 3625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6563975" y="9058275"/>
            <a:ext cx="76341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07 / 14</a:t>
            </a:r>
          </a:p>
        </p:txBody>
      </p:sp>
      <p:sp>
        <p:nvSpPr>
          <p:cNvPr id="28" name="Rectangle"/>
          <p:cNvSpPr/>
          <p:nvPr/>
        </p:nvSpPr>
        <p:spPr>
          <a:xfrm>
            <a:off x="-1514475" y="7248525"/>
            <a:ext cx="4933950" cy="4933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6E6A8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427839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04 · INTAKE GATE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9968408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400"/>
              </a:lnSpc>
            </a:pPr>
            <a:r>
              <a:rPr lang="en-US" sz="43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+ 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676525"/>
            <a:ext cx="9525000" cy="5657850"/>
          </a:xfrm>
          <a:prstGeom prst="roundRect">
            <a:avLst>
              <a:gd name="adj" fmla="val 3703"/>
            </a:avLst>
          </a:prstGeom>
          <a:solidFill>
            <a:srgbClr val="0A10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33500" y="3057525"/>
            <a:ext cx="302157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8FA1BD"/>
                </a:solidFill>
                <a:latin typeface="Source Han Sans CN Bold"/>
                <a:ea typeface="Source Han Sans CN Bold"/>
                <a:cs typeface="Source Han Sans CN Bold"/>
              </a:rPr>
              <a:t> V35 / M25 / L20 / B20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333500" y="3571875"/>
            <a:ext cx="226401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V · 漏洞情报　35</a:t>
            </a:r>
          </a:p>
        </p:txBody>
      </p:sp>
      <p:sp>
        <p:nvSpPr>
          <p:cNvPr id="8" name="Rectangle"/>
          <p:cNvSpPr/>
          <p:nvPr/>
        </p:nvSpPr>
        <p:spPr>
          <a:xfrm>
            <a:off x="1333500" y="3971925"/>
            <a:ext cx="6667500" cy="228600"/>
          </a:xfrm>
          <a:prstGeom prst="roundRect">
            <a:avLst>
              <a:gd name="adj" fmla="val 33333"/>
            </a:avLst>
          </a:prstGeom>
          <a:solidFill>
            <a:srgbClr val="35E6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1333500" y="4257675"/>
            <a:ext cx="733089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C8DA8"/>
                </a:solidFill>
                <a:latin typeface="Sarasa Gothic SC"/>
                <a:ea typeface="Sarasa Gothic SC"/>
                <a:cs typeface="Sarasa Gothic SC"/>
              </a:rPr>
              <a:t>CVSS 归一 ≤25 · KEV +8 · EPSS ≤5 · 无修复版本 +4 · 暴露 &gt;180 天 +3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333500" y="4619625"/>
            <a:ext cx="257578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M · 维护健康度　25</a:t>
            </a:r>
          </a:p>
        </p:txBody>
      </p:sp>
      <p:sp>
        <p:nvSpPr>
          <p:cNvPr id="11" name="Rectangle"/>
          <p:cNvSpPr/>
          <p:nvPr/>
        </p:nvSpPr>
        <p:spPr>
          <a:xfrm>
            <a:off x="1333500" y="5019675"/>
            <a:ext cx="4762500" cy="228600"/>
          </a:xfrm>
          <a:prstGeom prst="roundRect">
            <a:avLst>
              <a:gd name="adj" fmla="val 33333"/>
            </a:avLst>
          </a:prstGeom>
          <a:solidFill>
            <a:srgbClr val="2BB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333500" y="5305425"/>
            <a:ext cx="659307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C8DA8"/>
                </a:solidFill>
                <a:latin typeface="Sarasa Gothic SC"/>
                <a:ea typeface="Sarasa Gothic SC"/>
                <a:cs typeface="Sarasa Gothic SC"/>
              </a:rPr>
              <a:t>archived 取满 · 最近提交 ≤20 · 发布数 ≤6 · 维护者 ≤5 · 响应 ≤4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333500" y="5667375"/>
            <a:ext cx="222507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L · 合规许可　20</a:t>
            </a:r>
          </a:p>
        </p:txBody>
      </p:sp>
      <p:sp>
        <p:nvSpPr>
          <p:cNvPr id="14" name="Rectangle"/>
          <p:cNvSpPr/>
          <p:nvPr/>
        </p:nvSpPr>
        <p:spPr>
          <a:xfrm>
            <a:off x="1333500" y="6067425"/>
            <a:ext cx="3810000" cy="228600"/>
          </a:xfrm>
          <a:prstGeom prst="roundRect">
            <a:avLst>
              <a:gd name="adj" fmla="val 33333"/>
            </a:avLst>
          </a:prstGeom>
          <a:solidFill>
            <a:srgbClr val="5B9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333500" y="6353175"/>
            <a:ext cx="558094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C8DA8"/>
                </a:solidFill>
                <a:latin typeface="Sarasa Gothic SC"/>
                <a:ea typeface="Sarasa Gothic SC"/>
                <a:cs typeface="Sarasa Gothic SC"/>
              </a:rPr>
              <a:t> 20 · 商业源码 14 · 未知 12 · 弱传染 10 · 宽松 0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333500" y="6715125"/>
            <a:ext cx="225094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B · 业务影响　20</a:t>
            </a:r>
          </a:p>
        </p:txBody>
      </p:sp>
      <p:sp>
        <p:nvSpPr>
          <p:cNvPr id="17" name="Rectangle"/>
          <p:cNvSpPr/>
          <p:nvPr/>
        </p:nvSpPr>
        <p:spPr>
          <a:xfrm>
            <a:off x="1333500" y="7115175"/>
            <a:ext cx="3810000" cy="228600"/>
          </a:xfrm>
          <a:prstGeom prst="roundRect">
            <a:avLst>
              <a:gd name="adj" fmla="val 33333"/>
            </a:avLst>
          </a:prstGeom>
          <a:solidFill>
            <a:srgbClr val="3C6F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333500" y="7400925"/>
            <a:ext cx="678334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C8DA8"/>
                </a:solidFill>
                <a:latin typeface="Sarasa Gothic SC"/>
                <a:ea typeface="Sarasa Gothic SC"/>
                <a:cs typeface="Sarasa Gothic SC"/>
              </a:rPr>
              <a:t> ≤8 · 暴露面 ≤6 · 数据敏感度 ≤6 · 影响半径 ≤5 · 直接依赖 3</a:t>
            </a:r>
          </a:p>
        </p:txBody>
      </p:sp>
      <p:sp>
        <p:nvSpPr>
          <p:cNvPr id="19" name="Rectangle"/>
          <p:cNvSpPr/>
          <p:nvPr/>
        </p:nvSpPr>
        <p:spPr>
          <a:xfrm>
            <a:off x="957263" y="2681288"/>
            <a:ext cx="9515475" cy="5648325"/>
          </a:xfrm>
          <a:prstGeom prst="roundRect">
            <a:avLst>
              <a:gd name="adj" fmla="val 3625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0858500" y="2676525"/>
            <a:ext cx="6477000" cy="3133725"/>
          </a:xfrm>
          <a:prstGeom prst="roundRect">
            <a:avLst>
              <a:gd name="adj" fmla="val 6686"/>
            </a:avLst>
          </a:prstGeom>
          <a:solidFill>
            <a:srgbClr val="2213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1201400" y="3019425"/>
            <a:ext cx="2626328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7A7A"/>
                </a:solidFill>
                <a:latin typeface="Source Han Sans CN Bold"/>
                <a:ea typeface="Source Han Sans CN Bold"/>
                <a:cs typeface="Source Han Sans CN Bold"/>
              </a:rPr>
              <a:t> · 直接 Deny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1201400" y="3562350"/>
            <a:ext cx="57912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750"/>
              </a:lnSpc>
            </a:pPr>
            <a:r>
              <a:rPr lang="zh-CN" sz="1950">
                <a:solidFill>
                  <a:srgbClr val="E8C9C9"/>
                </a:solidFill>
                <a:latin typeface="Source Han Sans CN"/>
                <a:ea typeface="Source Han Sans CN"/>
                <a:cs typeface="Source Han Sans CN"/>
              </a:rPr>
              <a:t>KEV 且无修复版本</a:t>
            </a:r>
          </a:p>
          <a:p>
            <a:pPr>
              <a:lnSpc>
                <a:spcPts val="3750"/>
              </a:lnSpc>
            </a:pPr>
            <a:r>
              <a:rPr lang="zh-CN" sz="1950">
                <a:solidFill>
                  <a:srgbClr val="E8C9C9"/>
                </a:solidFill>
                <a:latin typeface="Source Han Sans CN"/>
                <a:ea typeface="Source Han Sans CN"/>
                <a:cs typeface="Source Han Sans CN"/>
              </a:rPr>
              <a:t>CVSS ≥ 9.0 且无修复版本</a:t>
            </a:r>
          </a:p>
          <a:p>
            <a:pPr>
              <a:lnSpc>
                <a:spcPts val="3750"/>
              </a:lnSpc>
            </a:pPr>
            <a:r>
              <a:rPr lang="zh-CN" sz="1950">
                <a:solidFill>
                  <a:srgbClr val="E8C9C9"/>
                </a:solidFill>
                <a:latin typeface="Source Han Sans CN"/>
                <a:ea typeface="Source Han Sans CN"/>
                <a:cs typeface="Source Han Sans CN"/>
              </a:rPr>
              <a:t>许可证与用途冲突</a:t>
            </a:r>
          </a:p>
          <a:p>
            <a:pPr>
              <a:lnSpc>
                <a:spcPts val="3750"/>
              </a:lnSpc>
            </a:pPr>
            <a:r>
              <a:rPr lang="zh-CN" sz="1950">
                <a:solidFill>
                  <a:srgbClr val="E8C9C9"/>
                </a:solidFill>
                <a:latin typeface="Source Han Sans CN"/>
                <a:ea typeface="Source Han Sans CN"/>
                <a:cs typeface="Source Han Sans CN"/>
              </a:rPr>
              <a:t>已 archived / deprecated</a:t>
            </a:r>
          </a:p>
        </p:txBody>
      </p:sp>
      <p:sp>
        <p:nvSpPr>
          <p:cNvPr id="23" name="Rectangle"/>
          <p:cNvSpPr/>
          <p:nvPr/>
        </p:nvSpPr>
        <p:spPr>
          <a:xfrm>
            <a:off x="10863263" y="2681288"/>
            <a:ext cx="6467475" cy="3124200"/>
          </a:xfrm>
          <a:prstGeom prst="roundRect">
            <a:avLst>
              <a:gd name="adj" fmla="val 6554"/>
            </a:avLst>
          </a:prstGeom>
          <a:noFill/>
          <a:ln w="9525">
            <a:solidFill>
              <a:srgbClr val="FF7A7A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0858500" y="6038850"/>
            <a:ext cx="6477000" cy="2428875"/>
          </a:xfrm>
          <a:prstGeom prst="roundRect">
            <a:avLst>
              <a:gd name="adj" fmla="val 8627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1201400" y="6381750"/>
            <a:ext cx="2000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诚实的不确定性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1201400" y="6924675"/>
            <a:ext cx="583453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150"/>
              </a:lnSpc>
            </a:pP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Allow / condition / Review / Deny / Exception</a:t>
            </a:r>
          </a:p>
        </p:txBody>
      </p:sp>
      <p:sp>
        <p:nvSpPr>
          <p:cNvPr id="27" name="Rectangle"/>
          <p:cNvSpPr/>
          <p:nvPr/>
        </p:nvSpPr>
        <p:spPr>
          <a:xfrm>
            <a:off x="10863263" y="6043613"/>
            <a:ext cx="6467475" cy="2419350"/>
          </a:xfrm>
          <a:prstGeom prst="roundRect">
            <a:avLst>
              <a:gd name="adj" fmla="val 8464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6554450" y="9058275"/>
            <a:ext cx="78101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490451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05 · DEPFILE PARSING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6587585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en-US" sz="46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SBOM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52500" y="2524125"/>
            <a:ext cx="8191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4200"/>
              </a:lnSpc>
            </a:pPr>
            <a:r>
              <a:rPr lang="en-US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 SBOM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 / 传递依赖自动区分，归一为 PURL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 version_req 与 pinned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zh-CN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--app 直接生成含 purls / gavs </a:t>
            </a:r>
            <a:br>
              <a:rPr lang="en-US" sz="2100">
                <a:latin typeface="Source Han Sans CN"/>
                <a:ea typeface="Source Han Sans CN"/>
                <a:cs typeface="Source Han Sans CN"/>
              </a:rPr>
            </a:br>
            <a:r>
              <a:rPr lang="en-US" sz="210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 2 </a:t>
            </a:r>
          </a:p>
        </p:txBody>
      </p:sp>
      <p:sp>
        <p:nvSpPr>
          <p:cNvPr id="6" name="Rectangle"/>
          <p:cNvSpPr/>
          <p:nvPr/>
        </p:nvSpPr>
        <p:spPr>
          <a:xfrm>
            <a:off x="952500" y="5438775"/>
            <a:ext cx="8191500" cy="1409700"/>
          </a:xfrm>
          <a:prstGeom prst="roundRect">
            <a:avLst>
              <a:gd name="adj" fmla="val 12162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238250" y="5724525"/>
            <a:ext cx="7382723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2025">
                <a:solidFill>
                  <a:srgbClr val="BFF3E0"/>
                </a:solidFill>
                <a:latin typeface="Source Han Sans CN"/>
                <a:ea typeface="Source Han Sans CN"/>
                <a:cs typeface="Source Han Sans CN"/>
              </a:rPr>
              <a:t>SBOM 推广最大的阻力是「要求业务侧先产出」——</a:t>
            </a:r>
          </a:p>
        </p:txBody>
      </p:sp>
      <p:sp>
        <p:nvSpPr>
          <p:cNvPr id="8" name="Rectangle"/>
          <p:cNvSpPr/>
          <p:nvPr/>
        </p:nvSpPr>
        <p:spPr>
          <a:xfrm>
            <a:off x="9525000" y="2524125"/>
            <a:ext cx="7810500" cy="3305175"/>
          </a:xfrm>
          <a:prstGeom prst="roundRect">
            <a:avLst>
              <a:gd name="adj" fmla="val 6340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9867900" y="2867025"/>
            <a:ext cx="24003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支持的依赖文件格式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9867900" y="3390900"/>
            <a:ext cx="7053024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pom.xml（属性展开 / dependencyManagement / 多模块）· build.gradle(.kts) ·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gradle.lockfile · package.json · package-lock.json v1/v2/v3 ·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yarn.lock · pnpm-lock.yaml · requirements.txt · Pipfile.lock ·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poetry.lock · pyproject.toml · go.mod / go.sum · Cargo ·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composer · Gemfile.lock</a:t>
            </a:r>
          </a:p>
        </p:txBody>
      </p:sp>
      <p:sp>
        <p:nvSpPr>
          <p:cNvPr id="11" name="Rectangle"/>
          <p:cNvSpPr/>
          <p:nvPr/>
        </p:nvSpPr>
        <p:spPr>
          <a:xfrm>
            <a:off x="9529763" y="2528888"/>
            <a:ext cx="7800975" cy="3295650"/>
          </a:xfrm>
          <a:prstGeom prst="roundRect">
            <a:avLst>
              <a:gd name="adj" fmla="val 6213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9525000" y="6057900"/>
            <a:ext cx="7810500" cy="2590800"/>
          </a:xfrm>
          <a:prstGeom prst="roundRect">
            <a:avLst>
              <a:gd name="adj" fmla="val 8088"/>
            </a:avLst>
          </a:prstGeom>
          <a:solidFill>
            <a:srgbClr val="0A10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9867900" y="6400800"/>
            <a:ext cx="71247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750"/>
              </a:lnSpc>
            </a:pPr>
            <a:r>
              <a:rPr lang="en-US" sz="1875">
                <a:solidFill>
                  <a:srgbClr val="35E6A8"/>
                </a:solidFill>
                <a:latin typeface="Source Han Sans CN"/>
                <a:ea typeface="Source Han Sans CN"/>
                <a:cs typeface="Source Han Sans CN"/>
              </a:rPr>
              <a:t>python -m oss_intake.cli scan \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35E6A8"/>
                </a:solidFill>
                <a:latin typeface="Source Han Sans CN"/>
                <a:ea typeface="Source Han Sans CN"/>
                <a:cs typeface="Source Han Sans CN"/>
              </a:rPr>
              <a:t>  --path ./payment-core \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zh-CN" sz="1875">
                <a:solidFill>
                  <a:srgbClr val="35E6A8"/>
                </a:solidFill>
                <a:latin typeface="Source Han Sans CN"/>
                <a:ea typeface="Source Han Sans CN"/>
                <a:cs typeface="Source Han Sans CN"/>
              </a:rPr>
              <a:t>  --app 支付核心 --tier core \</a:t>
            </a:r>
            <a:br>
              <a:rPr lang="en-US" sz="1875">
                <a:latin typeface="Source Han Sans CN"/>
                <a:ea typeface="Source Han Sans CN"/>
                <a:cs typeface="Source Han Sans CN"/>
              </a:rPr>
            </a:br>
            <a:r>
              <a:rPr lang="en-US" sz="1875">
                <a:solidFill>
                  <a:srgbClr val="35E6A8"/>
                </a:solidFill>
                <a:latin typeface="Source Han Sans CN"/>
                <a:ea typeface="Source Han Sans CN"/>
                <a:cs typeface="Source Han Sans CN"/>
              </a:rPr>
              <a:t>  --exposure internet --data-sensitivity high</a:t>
            </a:r>
          </a:p>
        </p:txBody>
      </p:sp>
      <p:sp>
        <p:nvSpPr>
          <p:cNvPr id="14" name="Rectangle"/>
          <p:cNvSpPr/>
          <p:nvPr/>
        </p:nvSpPr>
        <p:spPr>
          <a:xfrm>
            <a:off x="9529763" y="6062663"/>
            <a:ext cx="7800975" cy="2581275"/>
          </a:xfrm>
          <a:prstGeom prst="roundRect">
            <a:avLst>
              <a:gd name="adj" fmla="val 7933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6544925" y="9058275"/>
            <a:ext cx="78121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09 / 14</a:t>
            </a:r>
          </a:p>
        </p:txBody>
      </p:sp>
      <p:sp>
        <p:nvSpPr>
          <p:cNvPr id="17" name="Rectangle"/>
          <p:cNvSpPr/>
          <p:nvPr/>
        </p:nvSpPr>
        <p:spPr>
          <a:xfrm>
            <a:off x="14868525" y="-752475"/>
            <a:ext cx="4171950" cy="4171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6E6A8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5597314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06 · BASELINE + AI SCRIPT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7794079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en-US" sz="46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AI 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333625"/>
            <a:ext cx="5257800" cy="5238750"/>
          </a:xfrm>
          <a:prstGeom prst="roundRect">
            <a:avLst>
              <a:gd name="adj" fmla="val 4363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52550" y="2733675"/>
            <a:ext cx="80989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STEP 1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352550" y="3143250"/>
            <a:ext cx="217170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安全基线目录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52550" y="3819525"/>
            <a:ext cx="4104056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32 条基线，覆盖独立部署型（Redis / Nginx / Tomcat / Kafka /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ZooKeeper / Elasticsearch / Nacos /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MySQL / MongoDB / RabbitMQ /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Docker / Jenkins）与依赖引入型（fastjson / log4j /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Shiro / Struts / Spring Boot Actuator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/ XStream / Jackson</a:t>
            </a:r>
          </a:p>
        </p:txBody>
      </p:sp>
      <p:sp>
        <p:nvSpPr>
          <p:cNvPr id="9" name="Rectangle"/>
          <p:cNvSpPr/>
          <p:nvPr/>
        </p:nvSpPr>
        <p:spPr>
          <a:xfrm>
            <a:off x="957263" y="2338388"/>
            <a:ext cx="5248275" cy="5229225"/>
          </a:xfrm>
          <a:prstGeom prst="roundRect">
            <a:avLst>
              <a:gd name="adj" fmla="val 4280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6515100" y="2333625"/>
            <a:ext cx="5257800" cy="3562350"/>
          </a:xfrm>
          <a:prstGeom prst="roundRect">
            <a:avLst>
              <a:gd name="adj" fmla="val 6417"/>
            </a:avLst>
          </a:prstGeom>
          <a:solidFill>
            <a:srgbClr val="111C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6915150" y="2733675"/>
            <a:ext cx="85246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5B93FF"/>
                </a:solidFill>
                <a:latin typeface="Inter Bold"/>
                <a:ea typeface="Inter Bold"/>
                <a:cs typeface="Inter Bold"/>
              </a:rPr>
              <a:t>STEP 2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915150" y="3143250"/>
            <a:ext cx="1881416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AI 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15150" y="3819525"/>
            <a:ext cx="4344029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sreops 巡检脚本 / codescan 规则包 / 通用 Python 巡检。LLM </a:t>
            </a:r>
          </a:p>
        </p:txBody>
      </p:sp>
      <p:sp>
        <p:nvSpPr>
          <p:cNvPr id="14" name="Rectangle"/>
          <p:cNvSpPr/>
          <p:nvPr/>
        </p:nvSpPr>
        <p:spPr>
          <a:xfrm>
            <a:off x="6519863" y="2338388"/>
            <a:ext cx="5248275" cy="3552825"/>
          </a:xfrm>
          <a:prstGeom prst="roundRect">
            <a:avLst>
              <a:gd name="adj" fmla="val 6300"/>
            </a:avLst>
          </a:prstGeom>
          <a:noFill/>
          <a:ln w="9525">
            <a:solidFill>
              <a:srgbClr val="5C94FF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12077700" y="2333625"/>
            <a:ext cx="5257800" cy="3981450"/>
          </a:xfrm>
          <a:prstGeom prst="roundRect">
            <a:avLst>
              <a:gd name="adj" fmla="val 5741"/>
            </a:avLst>
          </a:prstGeom>
          <a:solidFill>
            <a:srgbClr val="0F24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2477750" y="2733675"/>
            <a:ext cx="85624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STEP 3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2477750" y="3143250"/>
            <a:ext cx="1809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准确率回归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477750" y="3819525"/>
            <a:ext cx="4424267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90%，不达标退出码非 0。产物写入 manifest.json，记录 sha256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review_required</a:t>
            </a:r>
          </a:p>
        </p:txBody>
      </p:sp>
      <p:sp>
        <p:nvSpPr>
          <p:cNvPr id="19" name="Rectangle"/>
          <p:cNvSpPr/>
          <p:nvPr/>
        </p:nvSpPr>
        <p:spPr>
          <a:xfrm>
            <a:off x="12082463" y="2338388"/>
            <a:ext cx="5248275" cy="3971925"/>
          </a:xfrm>
          <a:prstGeom prst="roundRect">
            <a:avLst>
              <a:gd name="adj" fmla="val 5635"/>
            </a:avLst>
          </a:prstGeom>
          <a:noFill/>
          <a:ln w="9525">
            <a:solidFill>
              <a:srgbClr val="36E6A8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952500" y="7772400"/>
            <a:ext cx="16383000" cy="1066800"/>
          </a:xfrm>
          <a:prstGeom prst="roundRect">
            <a:avLst>
              <a:gd name="adj" fmla="val 16071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257300" y="8105775"/>
            <a:ext cx="1814227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9FB2CC"/>
                </a:solidFill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3305175" y="8077200"/>
            <a:ext cx="84867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75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可以参与生成，但要被静态检查、被样本集验收、被人工审核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6592550" y="9058275"/>
            <a:ext cx="73496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10 / 14</a:t>
            </a:r>
          </a:p>
        </p:txBody>
      </p:sp>
      <p:sp>
        <p:nvSpPr>
          <p:cNvPr id="25" name="Rectangle"/>
          <p:cNvSpPr/>
          <p:nvPr/>
        </p:nvSpPr>
        <p:spPr>
          <a:xfrm>
            <a:off x="14487525" y="7058025"/>
            <a:ext cx="5314950" cy="5314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94FF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347152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07 · PATROL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9336024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en-US" sz="45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CVE 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733675"/>
            <a:ext cx="5257800" cy="3105150"/>
          </a:xfrm>
          <a:prstGeom prst="roundRect">
            <a:avLst>
              <a:gd name="adj" fmla="val 7361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52550" y="3133725"/>
            <a:ext cx="11620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按应用聚合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352550" y="3524250"/>
            <a:ext cx="10858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影响面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52550" y="4181475"/>
            <a:ext cx="421847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KEV </a:t>
            </a:r>
          </a:p>
        </p:txBody>
      </p:sp>
      <p:sp>
        <p:nvSpPr>
          <p:cNvPr id="9" name="Rectangle"/>
          <p:cNvSpPr/>
          <p:nvPr/>
        </p:nvSpPr>
        <p:spPr>
          <a:xfrm>
            <a:off x="957263" y="2738438"/>
            <a:ext cx="5248275" cy="3095625"/>
          </a:xfrm>
          <a:prstGeom prst="roundRect">
            <a:avLst>
              <a:gd name="adj" fmla="val 7230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6515100" y="2733675"/>
            <a:ext cx="5257800" cy="3105150"/>
          </a:xfrm>
          <a:prstGeom prst="roundRect">
            <a:avLst>
              <a:gd name="adj" fmla="val 7361"/>
            </a:avLst>
          </a:prstGeom>
          <a:solidFill>
            <a:srgbClr val="241B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6915150" y="3133725"/>
            <a:ext cx="9239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FFB65C"/>
                </a:solidFill>
                <a:latin typeface="Inter Bold"/>
                <a:ea typeface="Inter Bold"/>
                <a:cs typeface="Inter Bold"/>
              </a:rPr>
              <a:t>工单定级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915150" y="3524250"/>
            <a:ext cx="144780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整改期限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15150" y="4181475"/>
            <a:ext cx="437028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KEV / CVSS 排序并定期限：critical 7 天 · high 15 天 ·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medium 30 天 · low 90 </a:t>
            </a:r>
          </a:p>
        </p:txBody>
      </p:sp>
      <p:sp>
        <p:nvSpPr>
          <p:cNvPr id="14" name="Rectangle"/>
          <p:cNvSpPr/>
          <p:nvPr/>
        </p:nvSpPr>
        <p:spPr>
          <a:xfrm>
            <a:off x="6519863" y="2738438"/>
            <a:ext cx="5248275" cy="3095625"/>
          </a:xfrm>
          <a:prstGeom prst="roundRect">
            <a:avLst>
              <a:gd name="adj" fmla="val 7230"/>
            </a:avLst>
          </a:prstGeom>
          <a:noFill/>
          <a:ln w="9525">
            <a:solidFill>
              <a:srgbClr val="FFB55C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12077700" y="2733675"/>
            <a:ext cx="5257800" cy="3105150"/>
          </a:xfrm>
          <a:prstGeom prst="roundRect">
            <a:avLst>
              <a:gd name="adj" fmla="val 7361"/>
            </a:avLst>
          </a:prstGeom>
          <a:solidFill>
            <a:srgbClr val="0F24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2477750" y="3133725"/>
            <a:ext cx="9239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增量对比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2477750" y="3524250"/>
            <a:ext cx="144780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收敛证明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477750" y="4181475"/>
            <a:ext cx="4464634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+ 组件 + CVE」三元组输出新增 / 未修复 / </a:t>
            </a:r>
          </a:p>
        </p:txBody>
      </p:sp>
      <p:sp>
        <p:nvSpPr>
          <p:cNvPr id="19" name="Rectangle"/>
          <p:cNvSpPr/>
          <p:nvPr/>
        </p:nvSpPr>
        <p:spPr>
          <a:xfrm>
            <a:off x="12082463" y="2738438"/>
            <a:ext cx="5248275" cy="3095625"/>
          </a:xfrm>
          <a:prstGeom prst="roundRect">
            <a:avLst>
              <a:gd name="adj" fmla="val 7230"/>
            </a:avLst>
          </a:prstGeom>
          <a:noFill/>
          <a:ln w="9525">
            <a:solidFill>
              <a:srgbClr val="36E6A8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952500" y="6448425"/>
            <a:ext cx="16383000" cy="1971675"/>
          </a:xfrm>
          <a:prstGeom prst="roundRect">
            <a:avLst>
              <a:gd name="adj" fmla="val 9661"/>
            </a:avLst>
          </a:prstGeom>
          <a:solidFill>
            <a:srgbClr val="0E1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295400" y="6791325"/>
            <a:ext cx="16002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群组分值口径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295400" y="7277100"/>
            <a:ext cx="7305199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= 0.6 × 最差组件 + 0.4 × 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9486900" y="6791325"/>
            <a:ext cx="18669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5B93FF"/>
                </a:solidFill>
                <a:latin typeface="Source Han Sans CN Bold"/>
                <a:ea typeface="Source Han Sans CN Bold"/>
                <a:cs typeface="Source Han Sans CN Bold"/>
              </a:rPr>
              <a:t>为什么是三元组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486901" y="7277100"/>
            <a:ext cx="7600474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150"/>
              </a:lnSpc>
            </a:pPr>
            <a:r>
              <a:rPr lang="zh-CN" sz="187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× 组件 × CVE </a:t>
            </a:r>
          </a:p>
        </p:txBody>
      </p:sp>
      <p:sp>
        <p:nvSpPr>
          <p:cNvPr id="25" name="Rectangle"/>
          <p:cNvSpPr/>
          <p:nvPr/>
        </p:nvSpPr>
        <p:spPr>
          <a:xfrm>
            <a:off x="957263" y="6453188"/>
            <a:ext cx="16373475" cy="1962150"/>
          </a:xfrm>
          <a:prstGeom prst="roundRect">
            <a:avLst>
              <a:gd name="adj" fmla="val 9466"/>
            </a:avLst>
          </a:prstGeom>
          <a:noFill/>
          <a:ln w="9525">
            <a:solidFill>
              <a:srgbClr val="FFFFFF">
                <a:alpha val="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6649700" y="9058275"/>
            <a:ext cx="68350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550437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CAPABILITY 08 · SYNC + INTEGRATION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9810941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en-US" sz="45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 PPT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781300"/>
            <a:ext cx="8001000" cy="3476625"/>
          </a:xfrm>
          <a:prstGeom prst="roundRect">
            <a:avLst>
              <a:gd name="adj" fmla="val 6575"/>
            </a:avLst>
          </a:prstGeom>
          <a:solidFill>
            <a:srgbClr val="0F24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52550" y="3181350"/>
            <a:ext cx="19431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同步协议保障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352550" y="3800475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4050"/>
              </a:lnSpc>
            </a:pPr>
            <a:r>
              <a:rPr lang="zh-CN" sz="1950">
                <a:solidFill>
                  <a:srgbClr val="BFE8D8"/>
                </a:solidFill>
                <a:latin typeface="Source Han Sans CN"/>
                <a:ea typeface="Source Han Sans CN"/>
                <a:cs typeface="Source Han Sans CN"/>
              </a:rPr>
              <a:t>manifest 签名：优先 ed25519，回落 HMAC-SHA256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BFE8D8"/>
                </a:solidFill>
                <a:latin typeface="Source Han Sans CN"/>
                <a:ea typeface="Source Han Sans CN"/>
                <a:cs typeface="Source Han Sans CN"/>
              </a:rPr>
              <a:t> sha256 + prev_digest 链 + seq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BFE8D8"/>
                </a:solidFill>
                <a:latin typeface="Source Han Sans CN"/>
                <a:ea typeface="Source Han Sans CN"/>
                <a:cs typeface="Source Han Sans CN"/>
              </a:rPr>
              <a:t> + rename 原子切换，季度导入 snapshot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BFE8D8"/>
                </a:solidFill>
                <a:latin typeface="Source Han Sans CN"/>
                <a:ea typeface="Source Han Sans CN"/>
                <a:cs typeface="Source Han Sans CN"/>
              </a:rPr>
              <a:t> seq / 水位 / </a:t>
            </a:r>
          </a:p>
        </p:txBody>
      </p:sp>
      <p:sp>
        <p:nvSpPr>
          <p:cNvPr id="8" name="Rectangle"/>
          <p:cNvSpPr/>
          <p:nvPr/>
        </p:nvSpPr>
        <p:spPr>
          <a:xfrm>
            <a:off x="957263" y="2786063"/>
            <a:ext cx="7991475" cy="3467100"/>
          </a:xfrm>
          <a:prstGeom prst="roundRect">
            <a:avLst>
              <a:gd name="adj" fmla="val 6456"/>
            </a:avLst>
          </a:prstGeom>
          <a:noFill/>
          <a:ln w="9525">
            <a:solidFill>
              <a:srgbClr val="36E6A8">
                <a:alpha val="3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9334500" y="2781300"/>
            <a:ext cx="8001000" cy="3990975"/>
          </a:xfrm>
          <a:prstGeom prst="roundRect">
            <a:avLst>
              <a:gd name="adj" fmla="val 5727"/>
            </a:avLst>
          </a:prstGeom>
          <a:solidFill>
            <a:srgbClr val="111C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9734550" y="3181350"/>
            <a:ext cx="161925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工具链对接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9734550" y="3800475"/>
            <a:ext cx="7200900" cy="257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4050"/>
              </a:lnSpc>
            </a:pPr>
            <a:r>
              <a:rPr lang="zh-CN" sz="1950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SARIF 2.1.0：代码扫描中心 / GitHub code scanning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JUnit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MR 评论：结论分布 + 组件明细 +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never / deny / review / condition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DEPINFO </a:t>
            </a:r>
          </a:p>
        </p:txBody>
      </p:sp>
      <p:sp>
        <p:nvSpPr>
          <p:cNvPr id="12" name="Rectangle"/>
          <p:cNvSpPr/>
          <p:nvPr/>
        </p:nvSpPr>
        <p:spPr>
          <a:xfrm>
            <a:off x="9339263" y="2786063"/>
            <a:ext cx="7991475" cy="3981450"/>
          </a:xfrm>
          <a:prstGeom prst="roundRect">
            <a:avLst>
              <a:gd name="adj" fmla="val 5622"/>
            </a:avLst>
          </a:prstGeom>
          <a:noFill/>
          <a:ln w="9525">
            <a:solidFill>
              <a:srgbClr val="5C94FF">
                <a:alpha val="3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952500" y="7429500"/>
            <a:ext cx="16383000" cy="942975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238250" y="7715250"/>
            <a:ext cx="10287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9FB2CC"/>
                </a:solidFill>
                <a:latin typeface="Source Han Sans CN"/>
                <a:ea typeface="Source Han Sans CN"/>
                <a:cs typeface="Source Han Sans CN"/>
              </a:rPr>
              <a:t>可选扩展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95550" y="7715250"/>
            <a:ext cx="10974427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C9D7EC"/>
                </a:solidFill>
                <a:latin typeface="Source Han Sans CN"/>
                <a:ea typeface="Source Han Sans CN"/>
                <a:cs typeface="Source Han Sans CN"/>
              </a:rPr>
              <a:t> / 企业微信漏洞告警 · SBOM 与 pkg_list 双向生成 · R2 + NAS 备份流水线 ·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952500" y="9029700"/>
            <a:ext cx="17493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6602075" y="9058275"/>
            <a:ext cx="72586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12 / 14</a:t>
            </a:r>
          </a:p>
        </p:txBody>
      </p:sp>
      <p:sp>
        <p:nvSpPr>
          <p:cNvPr id="18" name="Rectangle"/>
          <p:cNvSpPr/>
          <p:nvPr/>
        </p:nvSpPr>
        <p:spPr>
          <a:xfrm>
            <a:off x="14297025" y="-942975"/>
            <a:ext cx="4933950" cy="4933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6E6A8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952500" y="952500"/>
            <a:ext cx="402487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ENGINEERING + DASHBOARD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52500" y="1419225"/>
            <a:ext cx="8572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zh-CN" sz="45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做开源治理的项目，自己必须干净</a:t>
            </a:r>
          </a:p>
        </p:txBody>
      </p:sp>
      <p:sp>
        <p:nvSpPr>
          <p:cNvPr id="5" name="Rectangle"/>
          <p:cNvSpPr/>
          <p:nvPr/>
        </p:nvSpPr>
        <p:spPr>
          <a:xfrm>
            <a:off x="952500" y="2447925"/>
            <a:ext cx="8572500" cy="4876800"/>
          </a:xfrm>
          <a:prstGeom prst="roundRect">
            <a:avLst>
              <a:gd name="adj" fmla="val 4687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352550" y="2847975"/>
            <a:ext cx="1219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工程自律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352550" y="3457575"/>
            <a:ext cx="77724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900"/>
              </a:lnSpc>
            </a:pPr>
            <a:r>
              <a:rPr lang="zh-CN" sz="195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oss_intake 评分 / 同步 / 脚本 / 巡检纯 Python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 requests，前端纯 ES5 IIFE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OpenSpec 管理全部能力，每个 Requirement 至少一个 Scenario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self-scan 用自家门禁引擎扫自身依赖，命中 Deny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C3D1E6"/>
                </a:solidFill>
                <a:latin typeface="Source Han Sans CN"/>
                <a:ea typeface="Source Han Sans CN"/>
                <a:cs typeface="Source Han Sans CN"/>
              </a:rPr>
              <a:t> .sample </a:t>
            </a:r>
          </a:p>
        </p:txBody>
      </p:sp>
      <p:sp>
        <p:nvSpPr>
          <p:cNvPr id="8" name="Rectangle"/>
          <p:cNvSpPr/>
          <p:nvPr/>
        </p:nvSpPr>
        <p:spPr>
          <a:xfrm>
            <a:off x="957263" y="2452688"/>
            <a:ext cx="8562975" cy="4867275"/>
          </a:xfrm>
          <a:prstGeom prst="roundRect">
            <a:avLst>
              <a:gd name="adj" fmla="val 4598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9906000" y="2447925"/>
            <a:ext cx="3600450" cy="2124075"/>
          </a:xfrm>
          <a:prstGeom prst="roundRect">
            <a:avLst>
              <a:gd name="adj" fmla="val 9865"/>
            </a:avLst>
          </a:prstGeom>
          <a:solidFill>
            <a:srgbClr val="0F24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0229850" y="2771775"/>
            <a:ext cx="166241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 spc="-75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4,000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850" y="3600450"/>
            <a:ext cx="2940643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550"/>
              </a:lnSpc>
            </a:pPr>
            <a:r>
              <a:rPr lang="zh-CN" sz="172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Top 清单（四生态各 1000</a:t>
            </a:r>
          </a:p>
        </p:txBody>
      </p:sp>
      <p:sp>
        <p:nvSpPr>
          <p:cNvPr id="12" name="Rectangle"/>
          <p:cNvSpPr/>
          <p:nvPr/>
        </p:nvSpPr>
        <p:spPr>
          <a:xfrm>
            <a:off x="9910763" y="2452688"/>
            <a:ext cx="3590925" cy="2114550"/>
          </a:xfrm>
          <a:prstGeom prst="roundRect">
            <a:avLst>
              <a:gd name="adj" fmla="val 9684"/>
            </a:avLst>
          </a:prstGeom>
          <a:noFill/>
          <a:ln w="9525">
            <a:solidFill>
              <a:srgbClr val="36E6A8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13735050" y="2447925"/>
            <a:ext cx="3600450" cy="1800225"/>
          </a:xfrm>
          <a:prstGeom prst="roundRect">
            <a:avLst>
              <a:gd name="adj" fmla="val 11640"/>
            </a:avLst>
          </a:prstGeom>
          <a:solidFill>
            <a:srgbClr val="111C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4058900" y="2771775"/>
            <a:ext cx="1152227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 spc="-75">
                <a:solidFill>
                  <a:srgbClr val="5B93FF"/>
                </a:solidFill>
                <a:latin typeface="Inter Bold"/>
                <a:ea typeface="Inter Bold"/>
                <a:cs typeface="Inter Bold"/>
              </a:rPr>
              <a:t>408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4058900" y="3600450"/>
            <a:ext cx="24098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72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社区支持力度已覆盖组件</a:t>
            </a:r>
          </a:p>
        </p:txBody>
      </p:sp>
      <p:sp>
        <p:nvSpPr>
          <p:cNvPr id="16" name="Rectangle"/>
          <p:cNvSpPr/>
          <p:nvPr/>
        </p:nvSpPr>
        <p:spPr>
          <a:xfrm>
            <a:off x="13739813" y="2452688"/>
            <a:ext cx="3590925" cy="1790700"/>
          </a:xfrm>
          <a:prstGeom prst="roundRect">
            <a:avLst>
              <a:gd name="adj" fmla="val 11436"/>
            </a:avLst>
          </a:prstGeom>
          <a:noFill/>
          <a:ln w="9525">
            <a:solidFill>
              <a:srgbClr val="5C94FF">
                <a:alpha val="3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9906000" y="4800600"/>
            <a:ext cx="3600450" cy="1952625"/>
          </a:xfrm>
          <a:prstGeom prst="roundRect">
            <a:avLst>
              <a:gd name="adj" fmla="val 10731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0229850" y="5124450"/>
            <a:ext cx="1467307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32 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0229850" y="6105525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72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内置安全配置基线</a:t>
            </a:r>
          </a:p>
        </p:txBody>
      </p:sp>
      <p:sp>
        <p:nvSpPr>
          <p:cNvPr id="20" name="Rectangle"/>
          <p:cNvSpPr/>
          <p:nvPr/>
        </p:nvSpPr>
        <p:spPr>
          <a:xfrm>
            <a:off x="9910763" y="4805363"/>
            <a:ext cx="3590925" cy="1943100"/>
          </a:xfrm>
          <a:prstGeom prst="roundRect">
            <a:avLst>
              <a:gd name="adj" fmla="val 10539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3735050" y="4800600"/>
            <a:ext cx="3600450" cy="1800225"/>
          </a:xfrm>
          <a:prstGeom prst="roundRect">
            <a:avLst>
              <a:gd name="adj" fmla="val 11640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4058900" y="5124450"/>
            <a:ext cx="1344216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FFB65C"/>
                </a:solidFill>
                <a:latin typeface="Inter Bold"/>
                <a:ea typeface="Inter Bold"/>
                <a:cs typeface="Inter Bold"/>
              </a:rPr>
              <a:t>90%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4058900" y="5953125"/>
            <a:ext cx="227377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725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 CI </a:t>
            </a:r>
          </a:p>
        </p:txBody>
      </p:sp>
      <p:sp>
        <p:nvSpPr>
          <p:cNvPr id="24" name="Rectangle"/>
          <p:cNvSpPr/>
          <p:nvPr/>
        </p:nvSpPr>
        <p:spPr>
          <a:xfrm>
            <a:off x="13739813" y="4805363"/>
            <a:ext cx="3590925" cy="1790700"/>
          </a:xfrm>
          <a:prstGeom prst="roundRect">
            <a:avLst>
              <a:gd name="adj" fmla="val 11436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952500" y="7639050"/>
            <a:ext cx="16383000" cy="1066800"/>
          </a:xfrm>
          <a:prstGeom prst="roundRect">
            <a:avLst>
              <a:gd name="adj" fmla="val 16071"/>
            </a:avLst>
          </a:prstGeom>
          <a:solidFill>
            <a:srgbClr val="36E6A8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257300" y="7972425"/>
            <a:ext cx="3143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9FB2CC"/>
                </a:solidFill>
                <a:latin typeface="Source Han Sans CN"/>
                <a:ea typeface="Source Han Sans CN"/>
                <a:cs typeface="Source Han Sans CN"/>
              </a:rPr>
              <a:t>重点不是「算出了什么」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4629150" y="79438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75">
                <a:solidFill>
                  <a:srgbClr val="35E6A8"/>
                </a:solidFill>
                <a:latin typeface="Source Han Sans CN Bold"/>
                <a:ea typeface="Source Han Sans CN Bold"/>
                <a:cs typeface="Source Han Sans CN Bold"/>
              </a:rPr>
              <a:t>而是每个数字都能点回原始出处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52500" y="9029700"/>
            <a:ext cx="25875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Source Han Sans CN"/>
                <a:ea typeface="Source Han Sans CN"/>
                <a:cs typeface="Source Han Sans CN"/>
              </a:rPr>
              <a:t>ScaBase · 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6602075" y="9058275"/>
            <a:ext cx="72985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72E"/>
              </a:gs>
              <a:gs pos="100000">
                <a:srgbClr val="080A14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0477500" y="-2095500"/>
            <a:ext cx="8191500" cy="8191500"/>
          </a:xfrm>
          <a:prstGeom prst="roundRect">
            <a:avLst>
              <a:gd name="adj" fmla="val 50000"/>
            </a:avLst>
          </a:prstGeom>
          <a:solidFill>
            <a:srgbClr val="1FE3A0">
              <a:alpha val="8000"/>
            </a:srgbClr>
          </a:solidFill>
          <a:ln>
            <a:noFill/>
          </a:ln>
          <a:effectLst>
            <a:blur rad="762000" grow="true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952500" y="952500"/>
            <a:ext cx="2927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300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ROLLOUT + CLOSING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52500" y="1419225"/>
            <a:ext cx="531495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700"/>
              </a:lnSpc>
            </a:pPr>
            <a:r>
              <a:rPr lang="zh-CN" sz="46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三步落地，逐步加严</a:t>
            </a:r>
          </a:p>
        </p:txBody>
      </p:sp>
      <p:sp>
        <p:nvSpPr>
          <p:cNvPr id="6" name="Rectangle"/>
          <p:cNvSpPr/>
          <p:nvPr/>
        </p:nvSpPr>
        <p:spPr>
          <a:xfrm>
            <a:off x="952500" y="2809875"/>
            <a:ext cx="5257800" cy="3143250"/>
          </a:xfrm>
          <a:prstGeom prst="roundRect">
            <a:avLst>
              <a:gd name="adj" fmla="val 7272"/>
            </a:avLst>
          </a:prstGeom>
          <a:solidFill>
            <a:srgbClr val="0F24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52550" y="3209925"/>
            <a:ext cx="17668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35E6A8"/>
                </a:solidFill>
                <a:latin typeface="Inter Bold"/>
                <a:ea typeface="Inter Bold"/>
                <a:cs typeface="Inter Bold"/>
              </a:rPr>
              <a:t>STEP 1 ·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52550" y="3619500"/>
            <a:ext cx="217170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先把现状摊开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352550" y="4295775"/>
            <a:ext cx="4310844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GitHub Pages 或 docker compose up -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d，把已有组件清单灌进去，先出一张 CVE 清单——</a:t>
            </a:r>
          </a:p>
        </p:txBody>
      </p:sp>
      <p:sp>
        <p:nvSpPr>
          <p:cNvPr id="10" name="Rectangle"/>
          <p:cNvSpPr/>
          <p:nvPr/>
        </p:nvSpPr>
        <p:spPr>
          <a:xfrm>
            <a:off x="957263" y="2814638"/>
            <a:ext cx="5248275" cy="3133725"/>
          </a:xfrm>
          <a:prstGeom prst="roundRect">
            <a:avLst>
              <a:gd name="adj" fmla="val 7142"/>
            </a:avLst>
          </a:prstGeom>
          <a:noFill/>
          <a:ln w="9525">
            <a:solidFill>
              <a:srgbClr val="36E6A8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515100" y="2809875"/>
            <a:ext cx="5257800" cy="3143250"/>
          </a:xfrm>
          <a:prstGeom prst="roundRect">
            <a:avLst>
              <a:gd name="adj" fmla="val 7272"/>
            </a:avLst>
          </a:prstGeom>
          <a:solidFill>
            <a:srgbClr val="111C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915150" y="3209925"/>
            <a:ext cx="180941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5B93FF"/>
                </a:solidFill>
                <a:latin typeface="Inter Bold"/>
                <a:ea typeface="Inter Bold"/>
                <a:cs typeface="Inter Bold"/>
              </a:rPr>
              <a:t>STEP 2 · 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15150" y="3619500"/>
            <a:ext cx="25336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把结论变成闸门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915150" y="4295775"/>
            <a:ext cx="4414114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CI 里挂 gate，--fail-on deny 成为流水线上的一道闸；同时产出 SARIF / JUnit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/ MR </a:t>
            </a:r>
          </a:p>
        </p:txBody>
      </p:sp>
      <p:sp>
        <p:nvSpPr>
          <p:cNvPr id="15" name="Rectangle"/>
          <p:cNvSpPr/>
          <p:nvPr/>
        </p:nvSpPr>
        <p:spPr>
          <a:xfrm>
            <a:off x="6519863" y="2814638"/>
            <a:ext cx="5248275" cy="3133725"/>
          </a:xfrm>
          <a:prstGeom prst="roundRect">
            <a:avLst>
              <a:gd name="adj" fmla="val 7142"/>
            </a:avLst>
          </a:prstGeom>
          <a:noFill/>
          <a:ln w="9525">
            <a:solidFill>
              <a:srgbClr val="5C94FF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077700" y="2809875"/>
            <a:ext cx="5257800" cy="3143250"/>
          </a:xfrm>
          <a:prstGeom prst="roundRect">
            <a:avLst>
              <a:gd name="adj" fmla="val 7272"/>
            </a:avLst>
          </a:prstGeom>
          <a:solidFill>
            <a:srgbClr val="10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477750" y="3209925"/>
            <a:ext cx="205132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8FA1BD"/>
                </a:solidFill>
                <a:latin typeface="Inter Bold"/>
                <a:ea typeface="Inter Bold"/>
                <a:cs typeface="Inter Bold"/>
              </a:rPr>
              <a:t>STEP 3 · 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477750" y="3619500"/>
            <a:ext cx="1809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8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用增量证明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477750" y="4295775"/>
            <a:ext cx="4378452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1950">
                <a:solidFill>
                  <a:srgbClr val="A9B8D0"/>
                </a:solidFill>
                <a:latin typeface="Source Han Sans CN"/>
                <a:ea typeface="Source Han Sans CN"/>
                <a:cs typeface="Source Han Sans CN"/>
              </a:rPr>
              <a:t>patrol 周期巡检 + 工单闭环，月度复盘看「新增 / 未修复 / </a:t>
            </a:r>
          </a:p>
        </p:txBody>
      </p:sp>
      <p:sp>
        <p:nvSpPr>
          <p:cNvPr id="20" name="Rectangle"/>
          <p:cNvSpPr/>
          <p:nvPr/>
        </p:nvSpPr>
        <p:spPr>
          <a:xfrm>
            <a:off x="12082463" y="2814638"/>
            <a:ext cx="5248275" cy="3133725"/>
          </a:xfrm>
          <a:prstGeom prst="roundRect">
            <a:avLst>
              <a:gd name="adj" fmla="val 7142"/>
            </a:avLst>
          </a:prstGeom>
          <a:noFill/>
          <a:ln w="9525">
            <a:solidFill>
              <a:srgbClr val="FFFFFF">
                <a:alpha val="1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952500" y="6629400"/>
            <a:ext cx="16383000" cy="1781175"/>
          </a:xfrm>
          <a:prstGeom prst="roundRect">
            <a:avLst>
              <a:gd name="adj" fmla="val 11764"/>
            </a:avLst>
          </a:prstGeom>
          <a:solidFill>
            <a:srgbClr val="0A10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333500" y="7010400"/>
            <a:ext cx="1295400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050"/>
              </a:lnSpc>
            </a:pPr>
            <a:r>
              <a:rPr lang="zh-CN" sz="25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开源治理的难点从来不是缺一个扫描器，而是决策不可解释、数据不可核验、内网不可用。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333500" y="7658100"/>
            <a:ext cx="752185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8FA1BD"/>
                </a:solidFill>
                <a:latin typeface="Source Han Sans CN"/>
                <a:ea typeface="Source Han Sans CN"/>
                <a:cs typeface="Source Han Sans CN"/>
              </a:rPr>
              <a:t>ScaBase 把这三件事做成了默认能力 —— </a:t>
            </a:r>
          </a:p>
        </p:txBody>
      </p:sp>
      <p:sp>
        <p:nvSpPr>
          <p:cNvPr id="24" name="Rectangle"/>
          <p:cNvSpPr/>
          <p:nvPr/>
        </p:nvSpPr>
        <p:spPr>
          <a:xfrm>
            <a:off x="957263" y="6634163"/>
            <a:ext cx="16373475" cy="1771650"/>
          </a:xfrm>
          <a:prstGeom prst="roundRect">
            <a:avLst>
              <a:gd name="adj" fmla="val 11559"/>
            </a:avLst>
          </a:prstGeom>
          <a:noFill/>
          <a:ln w="9525">
            <a:solidFill>
              <a:srgbClr val="36E6A8">
                <a:alpha val="2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952500" y="9077325"/>
            <a:ext cx="306436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E7F9A"/>
                </a:solidFill>
                <a:latin typeface="Inter"/>
                <a:ea typeface="Inter"/>
                <a:cs typeface="Inter"/>
              </a:rPr>
              <a:t>scabase.roweb.cn · MIT License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6592550" y="9077325"/>
            <a:ext cx="73629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6E7F9A"/>
                </a:solidFill>
                <a:latin typeface="Inter Bold"/>
                <a:ea typeface="Inter Bold"/>
                <a:cs typeface="Inter Bold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